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lacial Indifference Bold" charset="1" panose="000008000000000000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  <p:embeddedFont>
      <p:font typeface="Inter" charset="1" panose="02000503000000020004"/>
      <p:regular r:id="rId16"/>
    </p:embeddedFont>
    <p:embeddedFont>
      <p:font typeface="Inter Semi-Bold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5977" y="6412716"/>
            <a:ext cx="7423223" cy="7411820"/>
          </a:xfrm>
          <a:custGeom>
            <a:avLst/>
            <a:gdLst/>
            <a:ahLst/>
            <a:cxnLst/>
            <a:rect r="r" b="b" t="t" l="l"/>
            <a:pathLst>
              <a:path h="7411820" w="7423223">
                <a:moveTo>
                  <a:pt x="0" y="0"/>
                </a:moveTo>
                <a:lnTo>
                  <a:pt x="7423222" y="0"/>
                </a:lnTo>
                <a:lnTo>
                  <a:pt x="7423222" y="7411820"/>
                </a:lnTo>
                <a:lnTo>
                  <a:pt x="0" y="7411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07608" y="3607298"/>
            <a:ext cx="6094828" cy="6094828"/>
          </a:xfrm>
          <a:custGeom>
            <a:avLst/>
            <a:gdLst/>
            <a:ahLst/>
            <a:cxnLst/>
            <a:rect r="r" b="b" t="t" l="l"/>
            <a:pathLst>
              <a:path h="6094828" w="6094828">
                <a:moveTo>
                  <a:pt x="0" y="0"/>
                </a:moveTo>
                <a:lnTo>
                  <a:pt x="6094827" y="0"/>
                </a:lnTo>
                <a:lnTo>
                  <a:pt x="6094827" y="6094828"/>
                </a:lnTo>
                <a:lnTo>
                  <a:pt x="0" y="6094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10401" y="4091173"/>
            <a:ext cx="7805796" cy="6647012"/>
            <a:chOff x="0" y="0"/>
            <a:chExt cx="1460623" cy="1243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0627" cy="1243791"/>
            </a:xfrm>
            <a:custGeom>
              <a:avLst/>
              <a:gdLst/>
              <a:ahLst/>
              <a:cxnLst/>
              <a:rect r="r" b="b" t="t" l="l"/>
              <a:pathLst>
                <a:path h="1243791" w="1460627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6"/>
              <a:stretch>
                <a:fillRect l="0" t="-276" r="0" b="-276"/>
              </a:stretch>
            </a:blipFill>
            <a:ln w="95250" cap="sq">
              <a:solidFill>
                <a:srgbClr val="0B3D4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3717" y="9258300"/>
            <a:ext cx="3977596" cy="2140341"/>
            <a:chOff x="0" y="0"/>
            <a:chExt cx="812800" cy="4373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9859" cy="437367"/>
            </a:xfrm>
            <a:custGeom>
              <a:avLst/>
              <a:gdLst/>
              <a:ahLst/>
              <a:cxnLst/>
              <a:rect r="r" b="b" t="t" l="l"/>
              <a:pathLst>
                <a:path h="437367" w="789859">
                  <a:moveTo>
                    <a:pt x="551209" y="0"/>
                  </a:moveTo>
                  <a:lnTo>
                    <a:pt x="58391" y="0"/>
                  </a:lnTo>
                  <a:cubicBezTo>
                    <a:pt x="42905" y="0"/>
                    <a:pt x="28053" y="6152"/>
                    <a:pt x="17102" y="17102"/>
                  </a:cubicBezTo>
                  <a:cubicBezTo>
                    <a:pt x="6152" y="28053"/>
                    <a:pt x="0" y="42905"/>
                    <a:pt x="0" y="58391"/>
                  </a:cubicBezTo>
                  <a:lnTo>
                    <a:pt x="0" y="378976"/>
                  </a:lnTo>
                  <a:cubicBezTo>
                    <a:pt x="0" y="411224"/>
                    <a:pt x="26143" y="437367"/>
                    <a:pt x="58391" y="437367"/>
                  </a:cubicBezTo>
                  <a:lnTo>
                    <a:pt x="551209" y="437367"/>
                  </a:lnTo>
                  <a:cubicBezTo>
                    <a:pt x="588445" y="437367"/>
                    <a:pt x="624000" y="421869"/>
                    <a:pt x="649347" y="394591"/>
                  </a:cubicBezTo>
                  <a:lnTo>
                    <a:pt x="773053" y="261459"/>
                  </a:lnTo>
                  <a:cubicBezTo>
                    <a:pt x="795461" y="237344"/>
                    <a:pt x="795461" y="200023"/>
                    <a:pt x="773053" y="175908"/>
                  </a:cubicBezTo>
                  <a:lnTo>
                    <a:pt x="649347" y="42776"/>
                  </a:lnTo>
                  <a:cubicBezTo>
                    <a:pt x="624000" y="15498"/>
                    <a:pt x="588445" y="0"/>
                    <a:pt x="551209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98500" cy="47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0221603" y="9258300"/>
            <a:ext cx="3977596" cy="2140341"/>
            <a:chOff x="0" y="0"/>
            <a:chExt cx="812800" cy="4373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9859" cy="437367"/>
            </a:xfrm>
            <a:custGeom>
              <a:avLst/>
              <a:gdLst/>
              <a:ahLst/>
              <a:cxnLst/>
              <a:rect r="r" b="b" t="t" l="l"/>
              <a:pathLst>
                <a:path h="437367" w="789859">
                  <a:moveTo>
                    <a:pt x="551209" y="0"/>
                  </a:moveTo>
                  <a:lnTo>
                    <a:pt x="58391" y="0"/>
                  </a:lnTo>
                  <a:cubicBezTo>
                    <a:pt x="42905" y="0"/>
                    <a:pt x="28053" y="6152"/>
                    <a:pt x="17102" y="17102"/>
                  </a:cubicBezTo>
                  <a:cubicBezTo>
                    <a:pt x="6152" y="28053"/>
                    <a:pt x="0" y="42905"/>
                    <a:pt x="0" y="58391"/>
                  </a:cubicBezTo>
                  <a:lnTo>
                    <a:pt x="0" y="378976"/>
                  </a:lnTo>
                  <a:cubicBezTo>
                    <a:pt x="0" y="411224"/>
                    <a:pt x="26143" y="437367"/>
                    <a:pt x="58391" y="437367"/>
                  </a:cubicBezTo>
                  <a:lnTo>
                    <a:pt x="551209" y="437367"/>
                  </a:lnTo>
                  <a:cubicBezTo>
                    <a:pt x="588445" y="437367"/>
                    <a:pt x="624000" y="421869"/>
                    <a:pt x="649347" y="394591"/>
                  </a:cubicBezTo>
                  <a:lnTo>
                    <a:pt x="773053" y="261459"/>
                  </a:lnTo>
                  <a:cubicBezTo>
                    <a:pt x="795461" y="237344"/>
                    <a:pt x="795461" y="200023"/>
                    <a:pt x="773053" y="175908"/>
                  </a:cubicBezTo>
                  <a:lnTo>
                    <a:pt x="649347" y="42776"/>
                  </a:lnTo>
                  <a:cubicBezTo>
                    <a:pt x="624000" y="15498"/>
                    <a:pt x="588445" y="0"/>
                    <a:pt x="551209" y="0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98500" cy="47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10401" y="-2389055"/>
            <a:ext cx="8582605" cy="6166519"/>
            <a:chOff x="0" y="0"/>
            <a:chExt cx="569191" cy="4089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091" y="0"/>
              <a:ext cx="539008" cy="408958"/>
            </a:xfrm>
            <a:custGeom>
              <a:avLst/>
              <a:gdLst/>
              <a:ahLst/>
              <a:cxnLst/>
              <a:rect r="r" b="b" t="t" l="l"/>
              <a:pathLst>
                <a:path h="408958" w="539008">
                  <a:moveTo>
                    <a:pt x="227799" y="0"/>
                  </a:moveTo>
                  <a:lnTo>
                    <a:pt x="514410" y="0"/>
                  </a:lnTo>
                  <a:cubicBezTo>
                    <a:pt x="522924" y="0"/>
                    <a:pt x="530833" y="4403"/>
                    <a:pt x="535319" y="11640"/>
                  </a:cubicBezTo>
                  <a:cubicBezTo>
                    <a:pt x="539804" y="18877"/>
                    <a:pt x="540228" y="27919"/>
                    <a:pt x="536439" y="35544"/>
                  </a:cubicBezTo>
                  <a:lnTo>
                    <a:pt x="368561" y="373414"/>
                  </a:lnTo>
                  <a:cubicBezTo>
                    <a:pt x="357742" y="395189"/>
                    <a:pt x="335525" y="408958"/>
                    <a:pt x="311210" y="408958"/>
                  </a:cubicBezTo>
                  <a:lnTo>
                    <a:pt x="24599" y="408958"/>
                  </a:lnTo>
                  <a:cubicBezTo>
                    <a:pt x="16085" y="408958"/>
                    <a:pt x="8176" y="404555"/>
                    <a:pt x="3691" y="397318"/>
                  </a:cubicBezTo>
                  <a:cubicBezTo>
                    <a:pt x="-795" y="390081"/>
                    <a:pt x="-1219" y="381039"/>
                    <a:pt x="2570" y="373414"/>
                  </a:cubicBezTo>
                  <a:lnTo>
                    <a:pt x="170448" y="35544"/>
                  </a:lnTo>
                  <a:cubicBezTo>
                    <a:pt x="181267" y="13770"/>
                    <a:pt x="203485" y="0"/>
                    <a:pt x="227799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365991" cy="44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3435271" y="8343901"/>
            <a:ext cx="12579271" cy="3054740"/>
            <a:chOff x="0" y="0"/>
            <a:chExt cx="1758169" cy="426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390" y="0"/>
              <a:ext cx="1741388" cy="426952"/>
            </a:xfrm>
            <a:custGeom>
              <a:avLst/>
              <a:gdLst/>
              <a:ahLst/>
              <a:cxnLst/>
              <a:rect r="r" b="b" t="t" l="l"/>
              <a:pathLst>
                <a:path h="426952" w="1741388">
                  <a:moveTo>
                    <a:pt x="1523807" y="0"/>
                  </a:moveTo>
                  <a:lnTo>
                    <a:pt x="14382" y="0"/>
                  </a:lnTo>
                  <a:cubicBezTo>
                    <a:pt x="9447" y="0"/>
                    <a:pt x="4857" y="2530"/>
                    <a:pt x="2222" y="6702"/>
                  </a:cubicBezTo>
                  <a:cubicBezTo>
                    <a:pt x="-413" y="10874"/>
                    <a:pt x="-725" y="16106"/>
                    <a:pt x="1396" y="20562"/>
                  </a:cubicBezTo>
                  <a:lnTo>
                    <a:pt x="185024" y="406391"/>
                  </a:lnTo>
                  <a:cubicBezTo>
                    <a:pt x="191002" y="418951"/>
                    <a:pt x="203671" y="426952"/>
                    <a:pt x="217582" y="426952"/>
                  </a:cubicBezTo>
                  <a:lnTo>
                    <a:pt x="1727007" y="426952"/>
                  </a:lnTo>
                  <a:cubicBezTo>
                    <a:pt x="1731942" y="426952"/>
                    <a:pt x="1736532" y="424422"/>
                    <a:pt x="1739167" y="420250"/>
                  </a:cubicBezTo>
                  <a:cubicBezTo>
                    <a:pt x="1741802" y="416078"/>
                    <a:pt x="1742113" y="410846"/>
                    <a:pt x="1739993" y="406391"/>
                  </a:cubicBezTo>
                  <a:lnTo>
                    <a:pt x="1556365" y="20562"/>
                  </a:lnTo>
                  <a:cubicBezTo>
                    <a:pt x="1550387" y="8001"/>
                    <a:pt x="1537717" y="0"/>
                    <a:pt x="1523807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1554969" cy="465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84836" y="9258300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853503" y="2133270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2610" y="400786"/>
            <a:ext cx="1370307" cy="388669"/>
          </a:xfrm>
          <a:custGeom>
            <a:avLst/>
            <a:gdLst/>
            <a:ahLst/>
            <a:cxnLst/>
            <a:rect r="r" b="b" t="t" l="l"/>
            <a:pathLst>
              <a:path h="388669" w="1370307">
                <a:moveTo>
                  <a:pt x="0" y="0"/>
                </a:moveTo>
                <a:lnTo>
                  <a:pt x="1370307" y="0"/>
                </a:lnTo>
                <a:lnTo>
                  <a:pt x="1370307" y="388669"/>
                </a:lnTo>
                <a:lnTo>
                  <a:pt x="0" y="3886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78052" y="8796338"/>
            <a:ext cx="923924" cy="923924"/>
          </a:xfrm>
          <a:custGeom>
            <a:avLst/>
            <a:gdLst/>
            <a:ahLst/>
            <a:cxnLst/>
            <a:rect r="r" b="b" t="t" l="l"/>
            <a:pathLst>
              <a:path h="923924" w="923924">
                <a:moveTo>
                  <a:pt x="0" y="0"/>
                </a:moveTo>
                <a:lnTo>
                  <a:pt x="923924" y="0"/>
                </a:lnTo>
                <a:lnTo>
                  <a:pt x="923924" y="923924"/>
                </a:lnTo>
                <a:lnTo>
                  <a:pt x="0" y="9239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78052" y="1445071"/>
            <a:ext cx="8689711" cy="350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4"/>
              </a:lnSpc>
            </a:pPr>
            <a:r>
              <a:rPr lang="en-US" b="true" sz="9074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CREDICHECK:</a:t>
            </a:r>
          </a:p>
          <a:p>
            <a:pPr algn="l" marL="0" indent="0" lvl="0">
              <a:lnSpc>
                <a:spcPts val="9074"/>
              </a:lnSpc>
            </a:pPr>
            <a:r>
              <a:rPr lang="en-US" b="true" sz="9074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SMARTCREDIT</a:t>
            </a:r>
          </a:p>
          <a:p>
            <a:pPr algn="l" marL="0" indent="0" lvl="0">
              <a:lnSpc>
                <a:spcPts val="9074"/>
              </a:lnSpc>
            </a:pPr>
            <a:r>
              <a:rPr lang="en-US" b="true" sz="9074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SIMULATOR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7085" y="5374692"/>
            <a:ext cx="4295822" cy="43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511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Daniel Ahumada Ubeda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8052" y="6234835"/>
            <a:ext cx="6360633" cy="136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2"/>
              </a:lnSpc>
            </a:pPr>
            <a:r>
              <a:rPr lang="en-US" b="true" sz="2594">
                <a:solidFill>
                  <a:srgbClr val="0B3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Plataforma FinTech de Pre-evaluación Crediticia</a:t>
            </a:r>
          </a:p>
          <a:p>
            <a:pPr algn="l" marL="0" indent="0" lvl="0">
              <a:lnSpc>
                <a:spcPts val="3632"/>
              </a:lnSpc>
            </a:pPr>
            <a:r>
              <a:rPr lang="en-US" b="true" sz="2594">
                <a:solidFill>
                  <a:srgbClr val="0B3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Ingeniería en Informática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68713" y="8739188"/>
            <a:ext cx="2534660" cy="43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sz="25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Asignatura: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68713" y="9205912"/>
            <a:ext cx="4819052" cy="43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</a:pPr>
            <a:r>
              <a:rPr lang="en-US" b="true" sz="251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Portafolio de Título (Capstone)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4003" y="1302359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44577" y="4878338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3932" y="9060866"/>
            <a:ext cx="4188963" cy="4182528"/>
          </a:xfrm>
          <a:custGeom>
            <a:avLst/>
            <a:gdLst/>
            <a:ahLst/>
            <a:cxnLst/>
            <a:rect r="r" b="b" t="t" l="l"/>
            <a:pathLst>
              <a:path h="4182528" w="4188963">
                <a:moveTo>
                  <a:pt x="0" y="0"/>
                </a:moveTo>
                <a:lnTo>
                  <a:pt x="4188963" y="0"/>
                </a:lnTo>
                <a:lnTo>
                  <a:pt x="4188963" y="4182528"/>
                </a:lnTo>
                <a:lnTo>
                  <a:pt x="0" y="4182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27805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444522" y="4589966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454950">
            <a:off x="16421334" y="5407619"/>
            <a:ext cx="7346802" cy="2036826"/>
            <a:chOff x="0" y="0"/>
            <a:chExt cx="1511688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1688" cy="419100"/>
            </a:xfrm>
            <a:custGeom>
              <a:avLst/>
              <a:gdLst/>
              <a:ahLst/>
              <a:cxnLst/>
              <a:rect r="r" b="b" t="t" l="l"/>
              <a:pathLst>
                <a:path h="419100" w="1511688">
                  <a:moveTo>
                    <a:pt x="20582" y="0"/>
                  </a:moveTo>
                  <a:lnTo>
                    <a:pt x="1491106" y="0"/>
                  </a:lnTo>
                  <a:cubicBezTo>
                    <a:pt x="1502473" y="0"/>
                    <a:pt x="1511688" y="9215"/>
                    <a:pt x="1511688" y="20582"/>
                  </a:cubicBezTo>
                  <a:lnTo>
                    <a:pt x="1511688" y="398518"/>
                  </a:lnTo>
                  <a:cubicBezTo>
                    <a:pt x="1511688" y="409885"/>
                    <a:pt x="1502473" y="419100"/>
                    <a:pt x="1491106" y="419100"/>
                  </a:cubicBezTo>
                  <a:lnTo>
                    <a:pt x="20582" y="419100"/>
                  </a:lnTo>
                  <a:cubicBezTo>
                    <a:pt x="9215" y="419100"/>
                    <a:pt x="0" y="409885"/>
                    <a:pt x="0" y="398518"/>
                  </a:cubicBezTo>
                  <a:lnTo>
                    <a:pt x="0" y="20582"/>
                  </a:lnTo>
                  <a:cubicBezTo>
                    <a:pt x="0" y="9215"/>
                    <a:pt x="9215" y="0"/>
                    <a:pt x="20582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1168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21267" y="-128587"/>
            <a:ext cx="4809252" cy="2537685"/>
            <a:chOff x="0" y="0"/>
            <a:chExt cx="1155273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036" y="0"/>
              <a:ext cx="1129201" cy="609600"/>
            </a:xfrm>
            <a:custGeom>
              <a:avLst/>
              <a:gdLst/>
              <a:ahLst/>
              <a:cxnLst/>
              <a:rect r="r" b="b" t="t" l="l"/>
              <a:pathLst>
                <a:path h="609600" w="1129201">
                  <a:moveTo>
                    <a:pt x="892353" y="0"/>
                  </a:moveTo>
                  <a:lnTo>
                    <a:pt x="33648" y="0"/>
                  </a:lnTo>
                  <a:cubicBezTo>
                    <a:pt x="22832" y="0"/>
                    <a:pt x="12676" y="5199"/>
                    <a:pt x="6351" y="13974"/>
                  </a:cubicBezTo>
                  <a:cubicBezTo>
                    <a:pt x="27" y="22748"/>
                    <a:pt x="-1693" y="34028"/>
                    <a:pt x="1727" y="44288"/>
                  </a:cubicBezTo>
                  <a:lnTo>
                    <a:pt x="175401" y="565312"/>
                  </a:lnTo>
                  <a:cubicBezTo>
                    <a:pt x="184217" y="591760"/>
                    <a:pt x="208969" y="609600"/>
                    <a:pt x="236848" y="609600"/>
                  </a:cubicBezTo>
                  <a:lnTo>
                    <a:pt x="1095553" y="609600"/>
                  </a:lnTo>
                  <a:cubicBezTo>
                    <a:pt x="1106369" y="609600"/>
                    <a:pt x="1116525" y="604401"/>
                    <a:pt x="1122850" y="595626"/>
                  </a:cubicBezTo>
                  <a:cubicBezTo>
                    <a:pt x="1129174" y="586852"/>
                    <a:pt x="1130895" y="575572"/>
                    <a:pt x="1127474" y="565312"/>
                  </a:cubicBezTo>
                  <a:lnTo>
                    <a:pt x="953800" y="44288"/>
                  </a:lnTo>
                  <a:cubicBezTo>
                    <a:pt x="944984" y="17840"/>
                    <a:pt x="920232" y="0"/>
                    <a:pt x="892353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95207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123765" y="-1050850"/>
            <a:ext cx="4706419" cy="4706419"/>
          </a:xfrm>
          <a:custGeom>
            <a:avLst/>
            <a:gdLst/>
            <a:ahLst/>
            <a:cxnLst/>
            <a:rect r="r" b="b" t="t" l="l"/>
            <a:pathLst>
              <a:path h="4706419" w="4706419">
                <a:moveTo>
                  <a:pt x="0" y="0"/>
                </a:moveTo>
                <a:lnTo>
                  <a:pt x="4706419" y="0"/>
                </a:lnTo>
                <a:lnTo>
                  <a:pt x="4706419" y="4706419"/>
                </a:lnTo>
                <a:lnTo>
                  <a:pt x="0" y="47064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28103" y="-683745"/>
            <a:ext cx="5026143" cy="5026143"/>
          </a:xfrm>
          <a:custGeom>
            <a:avLst/>
            <a:gdLst/>
            <a:ahLst/>
            <a:cxnLst/>
            <a:rect r="r" b="b" t="t" l="l"/>
            <a:pathLst>
              <a:path h="5026143" w="5026143">
                <a:moveTo>
                  <a:pt x="0" y="0"/>
                </a:moveTo>
                <a:lnTo>
                  <a:pt x="5026143" y="0"/>
                </a:lnTo>
                <a:lnTo>
                  <a:pt x="5026143" y="5026143"/>
                </a:lnTo>
                <a:lnTo>
                  <a:pt x="0" y="50261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66290" y="1146642"/>
            <a:ext cx="3549768" cy="3549768"/>
          </a:xfrm>
          <a:custGeom>
            <a:avLst/>
            <a:gdLst/>
            <a:ahLst/>
            <a:cxnLst/>
            <a:rect r="r" b="b" t="t" l="l"/>
            <a:pathLst>
              <a:path h="3549768" w="3549768">
                <a:moveTo>
                  <a:pt x="0" y="0"/>
                </a:moveTo>
                <a:lnTo>
                  <a:pt x="3549769" y="0"/>
                </a:lnTo>
                <a:lnTo>
                  <a:pt x="3549769" y="3549768"/>
                </a:lnTo>
                <a:lnTo>
                  <a:pt x="0" y="3549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68156" y="-394402"/>
            <a:ext cx="5757779" cy="4736800"/>
            <a:chOff x="0" y="0"/>
            <a:chExt cx="1381939" cy="11368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1939" cy="1136891"/>
            </a:xfrm>
            <a:custGeom>
              <a:avLst/>
              <a:gdLst/>
              <a:ahLst/>
              <a:cxnLst/>
              <a:rect r="r" b="b" t="t" l="l"/>
              <a:pathLst>
                <a:path h="1136891" w="1381939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088079" y="1136891"/>
                  </a:lnTo>
                  <a:cubicBezTo>
                    <a:pt x="1123987" y="1136891"/>
                    <a:pt x="1158143" y="1121372"/>
                    <a:pt x="1181763" y="1094326"/>
                  </a:cubicBezTo>
                  <a:lnTo>
                    <a:pt x="1340954" y="912044"/>
                  </a:lnTo>
                  <a:cubicBezTo>
                    <a:pt x="1367377" y="881787"/>
                    <a:pt x="1381939" y="842978"/>
                    <a:pt x="1381939" y="80280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10"/>
              <a:stretch>
                <a:fillRect l="0" t="-444" r="0" b="-444"/>
              </a:stretch>
            </a:blipFill>
            <a:ln w="38100" cap="sq">
              <a:solidFill>
                <a:srgbClr val="0B3D4D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true" flipV="false" rot="0">
            <a:off x="7917329" y="400786"/>
            <a:ext cx="798046" cy="226355"/>
          </a:xfrm>
          <a:custGeom>
            <a:avLst/>
            <a:gdLst/>
            <a:ahLst/>
            <a:cxnLst/>
            <a:rect r="r" b="b" t="t" l="l"/>
            <a:pathLst>
              <a:path h="226355" w="798046">
                <a:moveTo>
                  <a:pt x="798046" y="0"/>
                </a:moveTo>
                <a:lnTo>
                  <a:pt x="0" y="0"/>
                </a:lnTo>
                <a:lnTo>
                  <a:pt x="0" y="226355"/>
                </a:lnTo>
                <a:lnTo>
                  <a:pt x="798046" y="226355"/>
                </a:lnTo>
                <a:lnTo>
                  <a:pt x="79804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1911358" y="9060866"/>
            <a:ext cx="15990573" cy="2853706"/>
            <a:chOff x="0" y="0"/>
            <a:chExt cx="3514265" cy="6271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9230650" y="8022641"/>
            <a:ext cx="15990573" cy="2853706"/>
            <a:chOff x="0" y="0"/>
            <a:chExt cx="3514265" cy="6271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610" y="0"/>
              <a:ext cx="3491046" cy="624731"/>
            </a:xfrm>
            <a:custGeom>
              <a:avLst/>
              <a:gdLst/>
              <a:ahLst/>
              <a:cxnLst/>
              <a:rect r="r" b="b" t="t" l="l"/>
              <a:pathLst>
                <a:path h="624731" w="3491046">
                  <a:moveTo>
                    <a:pt x="1758746" y="622442"/>
                  </a:moveTo>
                  <a:lnTo>
                    <a:pt x="3489432" y="4720"/>
                  </a:lnTo>
                  <a:cubicBezTo>
                    <a:pt x="3490546" y="4322"/>
                    <a:pt x="3491211" y="3181"/>
                    <a:pt x="3491010" y="2016"/>
                  </a:cubicBezTo>
                  <a:cubicBezTo>
                    <a:pt x="3490808" y="851"/>
                    <a:pt x="3489797" y="0"/>
                    <a:pt x="3488615" y="0"/>
                  </a:cubicBezTo>
                  <a:lnTo>
                    <a:pt x="2431" y="0"/>
                  </a:lnTo>
                  <a:cubicBezTo>
                    <a:pt x="1248" y="0"/>
                    <a:pt x="237" y="851"/>
                    <a:pt x="36" y="2016"/>
                  </a:cubicBezTo>
                  <a:cubicBezTo>
                    <a:pt x="-166" y="3181"/>
                    <a:pt x="500" y="4322"/>
                    <a:pt x="1613" y="4720"/>
                  </a:cubicBezTo>
                  <a:lnTo>
                    <a:pt x="1732299" y="622442"/>
                  </a:lnTo>
                  <a:cubicBezTo>
                    <a:pt x="1740851" y="625495"/>
                    <a:pt x="1750195" y="625495"/>
                    <a:pt x="1758746" y="622442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549104" y="6697"/>
              <a:ext cx="2416057" cy="329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5377" y="674837"/>
            <a:ext cx="4295822" cy="34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</a:pPr>
            <a:r>
              <a:rPr lang="en-US" b="true" sz="1992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CrediCheck - SmartCredit Simulator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4797" y="1513981"/>
            <a:ext cx="6639277" cy="173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80"/>
              </a:lnSpc>
            </a:pPr>
            <a:r>
              <a:rPr lang="en-US" b="true" sz="5733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PROBLEMA</a:t>
            </a:r>
          </a:p>
          <a:p>
            <a:pPr algn="l" marL="0" indent="0" lvl="0">
              <a:lnSpc>
                <a:spcPts val="6880"/>
              </a:lnSpc>
            </a:pPr>
            <a:r>
              <a:rPr lang="en-US" b="true" sz="5733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Y LA SOLUCIÓN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052" y="5363896"/>
            <a:ext cx="7076888" cy="216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sz="20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Solicitudes de crédito rechazadas por falta de educación financiera.</a:t>
            </a:r>
          </a:p>
          <a:p>
            <a:pPr algn="l" marL="0" indent="0" lvl="0">
              <a:lnSpc>
                <a:spcPts val="2886"/>
              </a:lnSpc>
            </a:pPr>
            <a:r>
              <a:rPr lang="en-US" sz="20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Los bancos operan como cajas negras: sin transparencia ni retroalimentación.</a:t>
            </a:r>
          </a:p>
          <a:p>
            <a:pPr algn="l" marL="0" indent="0" lvl="0">
              <a:lnSpc>
                <a:spcPts val="2886"/>
              </a:lnSpc>
            </a:pPr>
            <a:r>
              <a:rPr lang="en-US" sz="20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Gasto de recursos evaluando perfiles inviables desde el inicio.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44522" y="5363896"/>
            <a:ext cx="7016816" cy="216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sz="20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Filtro previo ágil y automatizado antes de acudir al banco.</a:t>
            </a:r>
          </a:p>
          <a:p>
            <a:pPr algn="l" marL="0" indent="0" lvl="0">
              <a:lnSpc>
                <a:spcPts val="2886"/>
              </a:lnSpc>
            </a:pPr>
            <a:r>
              <a:rPr lang="en-US" sz="20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Entorno seguro para simular escenarios sin afectar el historial crediticio real.</a:t>
            </a:r>
          </a:p>
          <a:p>
            <a:pPr algn="l" marL="0" indent="0" lvl="0">
              <a:lnSpc>
                <a:spcPts val="2886"/>
              </a:lnSpc>
            </a:pPr>
            <a:r>
              <a:rPr lang="en-US" sz="20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Enfoque educativo que explica el riesgo y entrega recomendaciones personalizadas.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73958" y="4667645"/>
            <a:ext cx="3718662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4"/>
              </a:lnSpc>
            </a:pPr>
            <a:r>
              <a:rPr lang="en-US" b="true" sz="2160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 Problema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40342" y="4667645"/>
            <a:ext cx="3718662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4"/>
              </a:lnSpc>
            </a:pPr>
            <a:r>
              <a:rPr lang="en-US" b="true" sz="2160">
                <a:solidFill>
                  <a:srgbClr val="0B3D4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La Solución</a:t>
            </a:r>
          </a:p>
        </p:txBody>
      </p:sp>
      <p:grpSp>
        <p:nvGrpSpPr>
          <p:cNvPr name="Group 33" id="33"/>
          <p:cNvGrpSpPr/>
          <p:nvPr/>
        </p:nvGrpSpPr>
        <p:grpSpPr>
          <a:xfrm rot="-2841773">
            <a:off x="636428" y="4301250"/>
            <a:ext cx="803374" cy="9145654"/>
            <a:chOff x="0" y="0"/>
            <a:chExt cx="165303" cy="18818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C9DEE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1194" y="9379160"/>
            <a:ext cx="3878330" cy="1367891"/>
            <a:chOff x="0" y="0"/>
            <a:chExt cx="523736" cy="1847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0815" y="0"/>
              <a:ext cx="482105" cy="184722"/>
            </a:xfrm>
            <a:custGeom>
              <a:avLst/>
              <a:gdLst/>
              <a:ahLst/>
              <a:cxnLst/>
              <a:rect r="r" b="b" t="t" l="l"/>
              <a:pathLst>
                <a:path h="184722" w="482105">
                  <a:moveTo>
                    <a:pt x="265785" y="0"/>
                  </a:moveTo>
                  <a:lnTo>
                    <a:pt x="13120" y="0"/>
                  </a:lnTo>
                  <a:cubicBezTo>
                    <a:pt x="7700" y="0"/>
                    <a:pt x="2838" y="3333"/>
                    <a:pt x="884" y="8389"/>
                  </a:cubicBezTo>
                  <a:cubicBezTo>
                    <a:pt x="-1071" y="13444"/>
                    <a:pt x="285" y="19181"/>
                    <a:pt x="4295" y="22827"/>
                  </a:cubicBezTo>
                  <a:lnTo>
                    <a:pt x="157275" y="161895"/>
                  </a:lnTo>
                  <a:cubicBezTo>
                    <a:pt x="173432" y="176583"/>
                    <a:pt x="194484" y="184722"/>
                    <a:pt x="216320" y="184722"/>
                  </a:cubicBezTo>
                  <a:lnTo>
                    <a:pt x="468985" y="184722"/>
                  </a:lnTo>
                  <a:cubicBezTo>
                    <a:pt x="474405" y="184722"/>
                    <a:pt x="479268" y="181389"/>
                    <a:pt x="481222" y="176333"/>
                  </a:cubicBezTo>
                  <a:cubicBezTo>
                    <a:pt x="483177" y="171278"/>
                    <a:pt x="481821" y="165541"/>
                    <a:pt x="477810" y="161895"/>
                  </a:cubicBezTo>
                  <a:lnTo>
                    <a:pt x="324831" y="22827"/>
                  </a:lnTo>
                  <a:cubicBezTo>
                    <a:pt x="308674" y="8139"/>
                    <a:pt x="287621" y="0"/>
                    <a:pt x="265785" y="0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01600" y="-38100"/>
              <a:ext cx="320536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869067"/>
            <a:ext cx="4702813" cy="1103346"/>
            <a:chOff x="0" y="0"/>
            <a:chExt cx="787344" cy="1847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156" y="0"/>
              <a:ext cx="755031" cy="184722"/>
            </a:xfrm>
            <a:custGeom>
              <a:avLst/>
              <a:gdLst/>
              <a:ahLst/>
              <a:cxnLst/>
              <a:rect r="r" b="b" t="t" l="l"/>
              <a:pathLst>
                <a:path h="184722" w="755031">
                  <a:moveTo>
                    <a:pt x="541648" y="0"/>
                  </a:moveTo>
                  <a:lnTo>
                    <a:pt x="10184" y="0"/>
                  </a:lnTo>
                  <a:cubicBezTo>
                    <a:pt x="5977" y="0"/>
                    <a:pt x="2203" y="2587"/>
                    <a:pt x="686" y="6511"/>
                  </a:cubicBezTo>
                  <a:cubicBezTo>
                    <a:pt x="-831" y="10435"/>
                    <a:pt x="221" y="14888"/>
                    <a:pt x="3334" y="17718"/>
                  </a:cubicBezTo>
                  <a:lnTo>
                    <a:pt x="167554" y="167004"/>
                  </a:lnTo>
                  <a:cubicBezTo>
                    <a:pt x="180095" y="178405"/>
                    <a:pt x="196435" y="184722"/>
                    <a:pt x="213384" y="184722"/>
                  </a:cubicBezTo>
                  <a:lnTo>
                    <a:pt x="744848" y="184722"/>
                  </a:lnTo>
                  <a:cubicBezTo>
                    <a:pt x="749055" y="184722"/>
                    <a:pt x="752829" y="182135"/>
                    <a:pt x="754346" y="178211"/>
                  </a:cubicBezTo>
                  <a:cubicBezTo>
                    <a:pt x="755863" y="174287"/>
                    <a:pt x="754811" y="169834"/>
                    <a:pt x="751698" y="167004"/>
                  </a:cubicBezTo>
                  <a:lnTo>
                    <a:pt x="587478" y="17718"/>
                  </a:lnTo>
                  <a:cubicBezTo>
                    <a:pt x="574937" y="6317"/>
                    <a:pt x="558597" y="0"/>
                    <a:pt x="541648" y="0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38100"/>
              <a:ext cx="584144" cy="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2841773">
            <a:off x="-1025667" y="5081452"/>
            <a:ext cx="1587703" cy="9145654"/>
            <a:chOff x="0" y="0"/>
            <a:chExt cx="326688" cy="188182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688" cy="1881822"/>
            </a:xfrm>
            <a:custGeom>
              <a:avLst/>
              <a:gdLst/>
              <a:ahLst/>
              <a:cxnLst/>
              <a:rect r="r" b="b" t="t" l="l"/>
              <a:pathLst>
                <a:path h="1881822" w="326688">
                  <a:moveTo>
                    <a:pt x="0" y="0"/>
                  </a:moveTo>
                  <a:lnTo>
                    <a:pt x="326688" y="0"/>
                  </a:lnTo>
                  <a:lnTo>
                    <a:pt x="326688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26688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2841773">
            <a:off x="-1339388" y="4301250"/>
            <a:ext cx="803374" cy="9145654"/>
            <a:chOff x="0" y="0"/>
            <a:chExt cx="165303" cy="188182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5303" cy="1881822"/>
            </a:xfrm>
            <a:custGeom>
              <a:avLst/>
              <a:gdLst/>
              <a:ahLst/>
              <a:cxnLst/>
              <a:rect r="r" b="b" t="t" l="l"/>
              <a:pathLst>
                <a:path h="1881822" w="165303">
                  <a:moveTo>
                    <a:pt x="0" y="0"/>
                  </a:moveTo>
                  <a:lnTo>
                    <a:pt x="165303" y="0"/>
                  </a:lnTo>
                  <a:lnTo>
                    <a:pt x="165303" y="1881822"/>
                  </a:lnTo>
                  <a:lnTo>
                    <a:pt x="0" y="1881822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65303" cy="1919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46" t="-54471" r="-44958" b="-2131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1194" y="694205"/>
            <a:ext cx="513715" cy="513715"/>
          </a:xfrm>
          <a:custGeom>
            <a:avLst/>
            <a:gdLst/>
            <a:ahLst/>
            <a:cxnLst/>
            <a:rect r="r" b="b" t="t" l="l"/>
            <a:pathLst>
              <a:path h="513715" w="513715">
                <a:moveTo>
                  <a:pt x="513716" y="0"/>
                </a:moveTo>
                <a:lnTo>
                  <a:pt x="0" y="0"/>
                </a:lnTo>
                <a:lnTo>
                  <a:pt x="0" y="513715"/>
                </a:lnTo>
                <a:lnTo>
                  <a:pt x="513716" y="513715"/>
                </a:lnTo>
                <a:lnTo>
                  <a:pt x="513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44003" y="1065812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5" y="0"/>
                </a:lnTo>
                <a:lnTo>
                  <a:pt x="5131555" y="5123672"/>
                </a:lnTo>
                <a:lnTo>
                  <a:pt x="0" y="5123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96713" y="8512867"/>
            <a:ext cx="5131555" cy="5123673"/>
          </a:xfrm>
          <a:custGeom>
            <a:avLst/>
            <a:gdLst/>
            <a:ahLst/>
            <a:cxnLst/>
            <a:rect r="r" b="b" t="t" l="l"/>
            <a:pathLst>
              <a:path h="5123673" w="5131555">
                <a:moveTo>
                  <a:pt x="0" y="0"/>
                </a:moveTo>
                <a:lnTo>
                  <a:pt x="5131556" y="0"/>
                </a:lnTo>
                <a:lnTo>
                  <a:pt x="5131556" y="5123673"/>
                </a:lnTo>
                <a:lnTo>
                  <a:pt x="0" y="51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5377" y="665312"/>
            <a:ext cx="4295822" cy="50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b="true" sz="2997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Daniel Ahumada Ubeda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8052" y="1659939"/>
            <a:ext cx="743732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4"/>
              </a:lnSpc>
            </a:pPr>
            <a:r>
              <a:rPr lang="en-US" b="true" sz="4686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7552" y="2996921"/>
            <a:ext cx="8122806" cy="15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1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Desarrollar una plataforma web FinTech de pre-evaluación de riesgo crediticio, integrando modelos de Machine Learning y contenedores Docker para ofrecer simulaciones seguras, ágiles y educativas sin afectar el historial crediticio real del usuario.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14439" y="1354008"/>
            <a:ext cx="8570248" cy="3381076"/>
            <a:chOff x="0" y="0"/>
            <a:chExt cx="2257185" cy="8904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7185" cy="890489"/>
            </a:xfrm>
            <a:custGeom>
              <a:avLst/>
              <a:gdLst/>
              <a:ahLst/>
              <a:cxnLst/>
              <a:rect r="r" b="b" t="t" l="l"/>
              <a:pathLst>
                <a:path h="890489" w="2257185">
                  <a:moveTo>
                    <a:pt x="46071" y="0"/>
                  </a:moveTo>
                  <a:lnTo>
                    <a:pt x="2211114" y="0"/>
                  </a:lnTo>
                  <a:cubicBezTo>
                    <a:pt x="2236558" y="0"/>
                    <a:pt x="2257185" y="20627"/>
                    <a:pt x="2257185" y="46071"/>
                  </a:cubicBezTo>
                  <a:lnTo>
                    <a:pt x="2257185" y="844419"/>
                  </a:lnTo>
                  <a:cubicBezTo>
                    <a:pt x="2257185" y="869863"/>
                    <a:pt x="2236558" y="890489"/>
                    <a:pt x="2211114" y="890489"/>
                  </a:cubicBezTo>
                  <a:lnTo>
                    <a:pt x="46071" y="890489"/>
                  </a:lnTo>
                  <a:cubicBezTo>
                    <a:pt x="20627" y="890489"/>
                    <a:pt x="0" y="869863"/>
                    <a:pt x="0" y="844419"/>
                  </a:cubicBezTo>
                  <a:lnTo>
                    <a:pt x="0" y="46071"/>
                  </a:lnTo>
                  <a:cubicBezTo>
                    <a:pt x="0" y="20627"/>
                    <a:pt x="20627" y="0"/>
                    <a:pt x="46071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57185" cy="928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850562" y="2673889"/>
            <a:ext cx="6633957" cy="97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sz="18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Entrenar y validar un modelo de Machine Learning capaz de evaluar el riesgo crediticio de un solicitante con base en variables financieras y socioeconómicas relevantes.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10850562" y="1797569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5"/>
                </a:lnTo>
                <a:lnTo>
                  <a:pt x="0" y="5767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646468" y="1888891"/>
            <a:ext cx="3718662" cy="35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2"/>
              </a:lnSpc>
            </a:pPr>
            <a:r>
              <a:rPr lang="en-US" b="true" sz="210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Predictivo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10850562" y="5367929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14439" y="5036541"/>
            <a:ext cx="8570248" cy="3381076"/>
            <a:chOff x="0" y="0"/>
            <a:chExt cx="2257185" cy="8904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7185" cy="890489"/>
            </a:xfrm>
            <a:custGeom>
              <a:avLst/>
              <a:gdLst/>
              <a:ahLst/>
              <a:cxnLst/>
              <a:rect r="r" b="b" t="t" l="l"/>
              <a:pathLst>
                <a:path h="890489" w="2257185">
                  <a:moveTo>
                    <a:pt x="46071" y="0"/>
                  </a:moveTo>
                  <a:lnTo>
                    <a:pt x="2211114" y="0"/>
                  </a:lnTo>
                  <a:cubicBezTo>
                    <a:pt x="2236558" y="0"/>
                    <a:pt x="2257185" y="20627"/>
                    <a:pt x="2257185" y="46071"/>
                  </a:cubicBezTo>
                  <a:lnTo>
                    <a:pt x="2257185" y="844419"/>
                  </a:lnTo>
                  <a:cubicBezTo>
                    <a:pt x="2257185" y="869863"/>
                    <a:pt x="2236558" y="890489"/>
                    <a:pt x="2211114" y="890489"/>
                  </a:cubicBezTo>
                  <a:lnTo>
                    <a:pt x="46071" y="890489"/>
                  </a:lnTo>
                  <a:cubicBezTo>
                    <a:pt x="20627" y="890489"/>
                    <a:pt x="0" y="869863"/>
                    <a:pt x="0" y="844419"/>
                  </a:cubicBezTo>
                  <a:lnTo>
                    <a:pt x="0" y="46071"/>
                  </a:lnTo>
                  <a:cubicBezTo>
                    <a:pt x="0" y="20627"/>
                    <a:pt x="20627" y="0"/>
                    <a:pt x="46071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57185" cy="928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850562" y="6456654"/>
            <a:ext cx="6633957" cy="97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sz="18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Diseñar la arquitectura del sistema y una base de datos relacional que soporte la lógica de negocio, el historial de simulaciones y la gestión de usuarios de forma eficiente.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6468" y="5618201"/>
            <a:ext cx="3718662" cy="35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2"/>
              </a:lnSpc>
            </a:pPr>
            <a:r>
              <a:rPr lang="en-US" b="true" sz="210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Arquitectura y Base de Datos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720945" y="5762113"/>
            <a:ext cx="9308467" cy="2408708"/>
            <a:chOff x="0" y="0"/>
            <a:chExt cx="12411289" cy="321161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2411289" cy="3211611"/>
              <a:chOff x="0" y="0"/>
              <a:chExt cx="2451613" cy="63439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51613" cy="634392"/>
              </a:xfrm>
              <a:custGeom>
                <a:avLst/>
                <a:gdLst/>
                <a:ahLst/>
                <a:cxnLst/>
                <a:rect r="r" b="b" t="t" l="l"/>
                <a:pathLst>
                  <a:path h="634392" w="2451613">
                    <a:moveTo>
                      <a:pt x="42417" y="0"/>
                    </a:moveTo>
                    <a:lnTo>
                      <a:pt x="2409196" y="0"/>
                    </a:lnTo>
                    <a:cubicBezTo>
                      <a:pt x="2420445" y="0"/>
                      <a:pt x="2431234" y="4469"/>
                      <a:pt x="2439189" y="12424"/>
                    </a:cubicBezTo>
                    <a:cubicBezTo>
                      <a:pt x="2447144" y="20378"/>
                      <a:pt x="2451613" y="31167"/>
                      <a:pt x="2451613" y="42417"/>
                    </a:cubicBezTo>
                    <a:lnTo>
                      <a:pt x="2451613" y="591975"/>
                    </a:lnTo>
                    <a:cubicBezTo>
                      <a:pt x="2451613" y="603225"/>
                      <a:pt x="2447144" y="614014"/>
                      <a:pt x="2439189" y="621969"/>
                    </a:cubicBezTo>
                    <a:cubicBezTo>
                      <a:pt x="2431234" y="629923"/>
                      <a:pt x="2420445" y="634392"/>
                      <a:pt x="2409196" y="634392"/>
                    </a:cubicBezTo>
                    <a:lnTo>
                      <a:pt x="42417" y="634392"/>
                    </a:lnTo>
                    <a:cubicBezTo>
                      <a:pt x="31167" y="634392"/>
                      <a:pt x="20378" y="629923"/>
                      <a:pt x="12424" y="621969"/>
                    </a:cubicBezTo>
                    <a:cubicBezTo>
                      <a:pt x="4469" y="614014"/>
                      <a:pt x="0" y="603225"/>
                      <a:pt x="0" y="591975"/>
                    </a:cubicBezTo>
                    <a:lnTo>
                      <a:pt x="0" y="42417"/>
                    </a:lnTo>
                    <a:cubicBezTo>
                      <a:pt x="0" y="31167"/>
                      <a:pt x="4469" y="20378"/>
                      <a:pt x="12424" y="12424"/>
                    </a:cubicBezTo>
                    <a:cubicBezTo>
                      <a:pt x="20378" y="4469"/>
                      <a:pt x="31167" y="0"/>
                      <a:pt x="42417" y="0"/>
                    </a:cubicBezTo>
                    <a:close/>
                  </a:path>
                </a:pathLst>
              </a:custGeom>
              <a:solidFill>
                <a:srgbClr val="104557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51613" cy="6724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5400000">
              <a:off x="2494859" y="441851"/>
              <a:ext cx="768993" cy="768993"/>
            </a:xfrm>
            <a:custGeom>
              <a:avLst/>
              <a:gdLst/>
              <a:ahLst/>
              <a:cxnLst/>
              <a:rect r="r" b="b" t="t" l="l"/>
              <a:pathLst>
                <a:path h="768993" w="768993">
                  <a:moveTo>
                    <a:pt x="0" y="0"/>
                  </a:moveTo>
                  <a:lnTo>
                    <a:pt x="768993" y="0"/>
                  </a:lnTo>
                  <a:lnTo>
                    <a:pt x="768993" y="768992"/>
                  </a:lnTo>
                  <a:lnTo>
                    <a:pt x="0" y="76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494859" y="1489633"/>
              <a:ext cx="8845275" cy="1280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</a:pPr>
              <a:r>
                <a:rPr lang="en-US" sz="185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Desarrollar una API REST robusta para la comunicación entre capas del sistema y containerizar el despliegue final con Docker para garantizar portabilidad y escalabilidad.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556066" y="505460"/>
              <a:ext cx="4958215" cy="461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52"/>
                </a:lnSpc>
              </a:pPr>
              <a:r>
                <a:rPr lang="en-US" b="true" sz="2109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API REST y Despliegue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15503" y="-464710"/>
            <a:ext cx="19442003" cy="1415772"/>
            <a:chOff x="0" y="0"/>
            <a:chExt cx="4272790" cy="3111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0711" y="0"/>
              <a:ext cx="4251367" cy="310309"/>
            </a:xfrm>
            <a:custGeom>
              <a:avLst/>
              <a:gdLst/>
              <a:ahLst/>
              <a:cxnLst/>
              <a:rect r="r" b="b" t="t" l="l"/>
              <a:pathLst>
                <a:path h="310309" w="4251367">
                  <a:moveTo>
                    <a:pt x="2137111" y="309481"/>
                  </a:moveTo>
                  <a:lnTo>
                    <a:pt x="4250651" y="1664"/>
                  </a:lnTo>
                  <a:cubicBezTo>
                    <a:pt x="4251085" y="1601"/>
                    <a:pt x="4251397" y="1213"/>
                    <a:pt x="4251365" y="776"/>
                  </a:cubicBezTo>
                  <a:cubicBezTo>
                    <a:pt x="4251333" y="339"/>
                    <a:pt x="4250969" y="0"/>
                    <a:pt x="4250530" y="0"/>
                  </a:cubicBezTo>
                  <a:lnTo>
                    <a:pt x="837" y="0"/>
                  </a:lnTo>
                  <a:cubicBezTo>
                    <a:pt x="398" y="0"/>
                    <a:pt x="34" y="339"/>
                    <a:pt x="3" y="776"/>
                  </a:cubicBezTo>
                  <a:cubicBezTo>
                    <a:pt x="-29" y="1213"/>
                    <a:pt x="282" y="1601"/>
                    <a:pt x="716" y="1664"/>
                  </a:cubicBezTo>
                  <a:lnTo>
                    <a:pt x="2114256" y="309481"/>
                  </a:lnTo>
                  <a:cubicBezTo>
                    <a:pt x="2121835" y="310585"/>
                    <a:pt x="2129533" y="310585"/>
                    <a:pt x="2137111" y="309481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667623" y="-15875"/>
              <a:ext cx="2937543" cy="182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2658163" y="8903392"/>
            <a:ext cx="17538287" cy="2091706"/>
            <a:chOff x="0" y="0"/>
            <a:chExt cx="3854408" cy="4596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1296" y="0"/>
              <a:ext cx="3831817" cy="458191"/>
            </a:xfrm>
            <a:custGeom>
              <a:avLst/>
              <a:gdLst/>
              <a:ahLst/>
              <a:cxnLst/>
              <a:rect r="r" b="b" t="t" l="l"/>
              <a:pathLst>
                <a:path h="458191" w="3831817">
                  <a:moveTo>
                    <a:pt x="1928360" y="456726"/>
                  </a:moveTo>
                  <a:lnTo>
                    <a:pt x="3830660" y="2970"/>
                  </a:lnTo>
                  <a:cubicBezTo>
                    <a:pt x="3831403" y="2793"/>
                    <a:pt x="3831895" y="2088"/>
                    <a:pt x="3831806" y="1330"/>
                  </a:cubicBezTo>
                  <a:cubicBezTo>
                    <a:pt x="3831717" y="571"/>
                    <a:pt x="3831074" y="0"/>
                    <a:pt x="3830311" y="0"/>
                  </a:cubicBezTo>
                  <a:lnTo>
                    <a:pt x="1505" y="0"/>
                  </a:lnTo>
                  <a:cubicBezTo>
                    <a:pt x="742" y="0"/>
                    <a:pt x="99" y="571"/>
                    <a:pt x="10" y="1330"/>
                  </a:cubicBezTo>
                  <a:cubicBezTo>
                    <a:pt x="-79" y="2088"/>
                    <a:pt x="413" y="2793"/>
                    <a:pt x="1156" y="2970"/>
                  </a:cubicBezTo>
                  <a:lnTo>
                    <a:pt x="1903456" y="456726"/>
                  </a:lnTo>
                  <a:cubicBezTo>
                    <a:pt x="1911642" y="458679"/>
                    <a:pt x="1920174" y="458679"/>
                    <a:pt x="1928360" y="456726"/>
                  </a:cubicBez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602251" y="-5265"/>
              <a:ext cx="2649906" cy="251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-11531569" y="8903392"/>
            <a:ext cx="26896698" cy="2091706"/>
            <a:chOff x="0" y="0"/>
            <a:chExt cx="5911116" cy="4596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7702" y="0"/>
              <a:ext cx="5895712" cy="459051"/>
            </a:xfrm>
            <a:custGeom>
              <a:avLst/>
              <a:gdLst/>
              <a:ahLst/>
              <a:cxnLst/>
              <a:rect r="r" b="b" t="t" l="l"/>
              <a:pathLst>
                <a:path h="459051" w="5895712">
                  <a:moveTo>
                    <a:pt x="2956104" y="458414"/>
                  </a:moveTo>
                  <a:lnTo>
                    <a:pt x="5895166" y="1283"/>
                  </a:lnTo>
                  <a:cubicBezTo>
                    <a:pt x="5895499" y="1231"/>
                    <a:pt x="5895736" y="932"/>
                    <a:pt x="5895710" y="596"/>
                  </a:cubicBezTo>
                  <a:cubicBezTo>
                    <a:pt x="5895684" y="259"/>
                    <a:pt x="5895404" y="0"/>
                    <a:pt x="5895067" y="0"/>
                  </a:cubicBezTo>
                  <a:lnTo>
                    <a:pt x="645" y="0"/>
                  </a:lnTo>
                  <a:cubicBezTo>
                    <a:pt x="308" y="0"/>
                    <a:pt x="28" y="259"/>
                    <a:pt x="2" y="596"/>
                  </a:cubicBezTo>
                  <a:cubicBezTo>
                    <a:pt x="-24" y="932"/>
                    <a:pt x="213" y="1231"/>
                    <a:pt x="546" y="1283"/>
                  </a:cubicBezTo>
                  <a:lnTo>
                    <a:pt x="2939608" y="458414"/>
                  </a:lnTo>
                  <a:cubicBezTo>
                    <a:pt x="2945074" y="459264"/>
                    <a:pt x="2950638" y="459264"/>
                    <a:pt x="2956104" y="458414"/>
                  </a:cubicBez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923612" y="-5265"/>
              <a:ext cx="4063892" cy="251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4839651" y="8817667"/>
            <a:ext cx="26896698" cy="2091706"/>
            <a:chOff x="0" y="0"/>
            <a:chExt cx="5911116" cy="4596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7702" y="0"/>
              <a:ext cx="5895712" cy="459051"/>
            </a:xfrm>
            <a:custGeom>
              <a:avLst/>
              <a:gdLst/>
              <a:ahLst/>
              <a:cxnLst/>
              <a:rect r="r" b="b" t="t" l="l"/>
              <a:pathLst>
                <a:path h="459051" w="5895712">
                  <a:moveTo>
                    <a:pt x="2956104" y="458414"/>
                  </a:moveTo>
                  <a:lnTo>
                    <a:pt x="5895166" y="1283"/>
                  </a:lnTo>
                  <a:cubicBezTo>
                    <a:pt x="5895499" y="1231"/>
                    <a:pt x="5895736" y="932"/>
                    <a:pt x="5895710" y="596"/>
                  </a:cubicBezTo>
                  <a:cubicBezTo>
                    <a:pt x="5895684" y="259"/>
                    <a:pt x="5895404" y="0"/>
                    <a:pt x="5895067" y="0"/>
                  </a:cubicBezTo>
                  <a:lnTo>
                    <a:pt x="645" y="0"/>
                  </a:lnTo>
                  <a:cubicBezTo>
                    <a:pt x="308" y="0"/>
                    <a:pt x="28" y="259"/>
                    <a:pt x="2" y="596"/>
                  </a:cubicBezTo>
                  <a:cubicBezTo>
                    <a:pt x="-24" y="932"/>
                    <a:pt x="213" y="1231"/>
                    <a:pt x="546" y="1283"/>
                  </a:cubicBezTo>
                  <a:lnTo>
                    <a:pt x="2939608" y="458414"/>
                  </a:lnTo>
                  <a:cubicBezTo>
                    <a:pt x="2945074" y="459264"/>
                    <a:pt x="2950638" y="459264"/>
                    <a:pt x="2956104" y="458414"/>
                  </a:cubicBez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923612" y="-5265"/>
              <a:ext cx="4063892" cy="251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true" flipV="false" rot="0">
            <a:off x="7917329" y="400786"/>
            <a:ext cx="798046" cy="226355"/>
          </a:xfrm>
          <a:custGeom>
            <a:avLst/>
            <a:gdLst/>
            <a:ahLst/>
            <a:cxnLst/>
            <a:rect r="r" b="b" t="t" l="l"/>
            <a:pathLst>
              <a:path h="226355" w="798046">
                <a:moveTo>
                  <a:pt x="798046" y="0"/>
                </a:moveTo>
                <a:lnTo>
                  <a:pt x="0" y="0"/>
                </a:lnTo>
                <a:lnTo>
                  <a:pt x="0" y="226355"/>
                </a:lnTo>
                <a:lnTo>
                  <a:pt x="798046" y="226355"/>
                </a:lnTo>
                <a:lnTo>
                  <a:pt x="79804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10850562" y="5526880"/>
            <a:ext cx="576745" cy="576745"/>
          </a:xfrm>
          <a:custGeom>
            <a:avLst/>
            <a:gdLst/>
            <a:ahLst/>
            <a:cxnLst/>
            <a:rect r="r" b="b" t="t" l="l"/>
            <a:pathLst>
              <a:path h="576745" w="576745">
                <a:moveTo>
                  <a:pt x="0" y="0"/>
                </a:moveTo>
                <a:lnTo>
                  <a:pt x="576745" y="0"/>
                </a:lnTo>
                <a:lnTo>
                  <a:pt x="576745" y="576744"/>
                </a:lnTo>
                <a:lnTo>
                  <a:pt x="0" y="5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534775" y="8905875"/>
            <a:ext cx="26898600" cy="2095500"/>
            <a:chOff x="0" y="0"/>
            <a:chExt cx="35864800" cy="279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2657475" y="8905875"/>
            <a:ext cx="17545050" cy="2095500"/>
            <a:chOff x="0" y="0"/>
            <a:chExt cx="233934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934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3393400">
                  <a:moveTo>
                    <a:pt x="11696700" y="0"/>
                  </a:moveTo>
                  <a:lnTo>
                    <a:pt x="23393400" y="2794000"/>
                  </a:lnTo>
                  <a:lnTo>
                    <a:pt x="0" y="2794000"/>
                  </a:lnTo>
                  <a:lnTo>
                    <a:pt x="11696700" y="0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3934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4838700" y="8820150"/>
            <a:ext cx="26898600" cy="2095500"/>
            <a:chOff x="0" y="0"/>
            <a:chExt cx="35864800" cy="279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19950" y="-466725"/>
            <a:ext cx="19450050" cy="1419225"/>
            <a:chOff x="0" y="0"/>
            <a:chExt cx="25933400" cy="189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334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25933400">
                  <a:moveTo>
                    <a:pt x="12966700" y="0"/>
                  </a:moveTo>
                  <a:lnTo>
                    <a:pt x="25933400" y="1892300"/>
                  </a:lnTo>
                  <a:lnTo>
                    <a:pt x="0" y="1892300"/>
                  </a:lnTo>
                  <a:lnTo>
                    <a:pt x="129667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933400" cy="193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4048125" y="106680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0625" y="851535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19175" y="6953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514350" y="0"/>
                </a:moveTo>
                <a:lnTo>
                  <a:pt x="0" y="0"/>
                </a:lnTo>
                <a:lnTo>
                  <a:pt x="0" y="514350"/>
                </a:lnTo>
                <a:lnTo>
                  <a:pt x="514350" y="514350"/>
                </a:lnTo>
                <a:lnTo>
                  <a:pt x="5143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7915275" y="400050"/>
            <a:ext cx="800100" cy="228600"/>
          </a:xfrm>
          <a:custGeom>
            <a:avLst/>
            <a:gdLst/>
            <a:ahLst/>
            <a:cxnLst/>
            <a:rect r="r" b="b" t="t" l="l"/>
            <a:pathLst>
              <a:path h="228600" w="800100">
                <a:moveTo>
                  <a:pt x="800100" y="0"/>
                </a:moveTo>
                <a:lnTo>
                  <a:pt x="0" y="0"/>
                </a:lnTo>
                <a:lnTo>
                  <a:pt x="0" y="228600"/>
                </a:lnTo>
                <a:lnTo>
                  <a:pt x="800100" y="228600"/>
                </a:lnTo>
                <a:lnTo>
                  <a:pt x="8001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76350" y="2762250"/>
            <a:ext cx="7429500" cy="4953000"/>
            <a:chOff x="0" y="0"/>
            <a:chExt cx="9906000" cy="660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06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9906000">
                  <a:moveTo>
                    <a:pt x="660400" y="0"/>
                  </a:moveTo>
                  <a:lnTo>
                    <a:pt x="9245600" y="0"/>
                  </a:lnTo>
                  <a:cubicBezTo>
                    <a:pt x="9610329" y="0"/>
                    <a:pt x="9906000" y="295671"/>
                    <a:pt x="9906000" y="660400"/>
                  </a:cubicBezTo>
                  <a:lnTo>
                    <a:pt x="9906000" y="5943600"/>
                  </a:lnTo>
                  <a:cubicBezTo>
                    <a:pt x="9906000" y="6308329"/>
                    <a:pt x="9610329" y="6604000"/>
                    <a:pt x="9245600" y="6604000"/>
                  </a:cubicBezTo>
                  <a:lnTo>
                    <a:pt x="660400" y="6604000"/>
                  </a:lnTo>
                  <a:cubicBezTo>
                    <a:pt x="295671" y="6604000"/>
                    <a:pt x="0" y="6308329"/>
                    <a:pt x="0" y="594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E8F0F5"/>
            </a:solidFill>
            <a:ln w="19050" cap="sq">
              <a:solidFill>
                <a:srgbClr val="1D748B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906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0" y="3238500"/>
            <a:ext cx="7810500" cy="1476375"/>
            <a:chOff x="0" y="0"/>
            <a:chExt cx="10414000" cy="196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1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0414000">
                  <a:moveTo>
                    <a:pt x="196850" y="0"/>
                  </a:moveTo>
                  <a:lnTo>
                    <a:pt x="10217150" y="0"/>
                  </a:lnTo>
                  <a:cubicBezTo>
                    <a:pt x="10325867" y="0"/>
                    <a:pt x="10414000" y="88133"/>
                    <a:pt x="10414000" y="196850"/>
                  </a:cubicBezTo>
                  <a:lnTo>
                    <a:pt x="10414000" y="1771650"/>
                  </a:lnTo>
                  <a:cubicBezTo>
                    <a:pt x="10414000" y="1880367"/>
                    <a:pt x="10325867" y="1968500"/>
                    <a:pt x="10217150" y="1968500"/>
                  </a:cubicBezTo>
                  <a:lnTo>
                    <a:pt x="196850" y="1968500"/>
                  </a:lnTo>
                  <a:cubicBezTo>
                    <a:pt x="88133" y="1968500"/>
                    <a:pt x="0" y="1880367"/>
                    <a:pt x="0" y="1771650"/>
                  </a:cubicBezTo>
                  <a:lnTo>
                    <a:pt x="0" y="196850"/>
                  </a:lnTo>
                  <a:cubicBezTo>
                    <a:pt x="0" y="88133"/>
                    <a:pt x="88133" y="0"/>
                    <a:pt x="1968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41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5400000">
            <a:off x="9810750" y="342900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525000" y="4905375"/>
            <a:ext cx="7810500" cy="1476375"/>
            <a:chOff x="0" y="0"/>
            <a:chExt cx="10414000" cy="1968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1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0414000">
                  <a:moveTo>
                    <a:pt x="196850" y="0"/>
                  </a:moveTo>
                  <a:lnTo>
                    <a:pt x="10217150" y="0"/>
                  </a:lnTo>
                  <a:cubicBezTo>
                    <a:pt x="10325867" y="0"/>
                    <a:pt x="10414000" y="88133"/>
                    <a:pt x="10414000" y="196850"/>
                  </a:cubicBezTo>
                  <a:lnTo>
                    <a:pt x="10414000" y="1771650"/>
                  </a:lnTo>
                  <a:cubicBezTo>
                    <a:pt x="10414000" y="1880367"/>
                    <a:pt x="10325867" y="1968500"/>
                    <a:pt x="10217150" y="1968500"/>
                  </a:cubicBezTo>
                  <a:lnTo>
                    <a:pt x="196850" y="1968500"/>
                  </a:lnTo>
                  <a:cubicBezTo>
                    <a:pt x="88133" y="1968500"/>
                    <a:pt x="0" y="1880367"/>
                    <a:pt x="0" y="1771650"/>
                  </a:cubicBezTo>
                  <a:lnTo>
                    <a:pt x="0" y="196850"/>
                  </a:lnTo>
                  <a:cubicBezTo>
                    <a:pt x="0" y="88133"/>
                    <a:pt x="88133" y="0"/>
                    <a:pt x="1968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1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5400000">
            <a:off x="9810750" y="5095875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525000" y="6572250"/>
            <a:ext cx="7810500" cy="1476375"/>
            <a:chOff x="0" y="0"/>
            <a:chExt cx="10414000" cy="1968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1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0414000">
                  <a:moveTo>
                    <a:pt x="196850" y="0"/>
                  </a:moveTo>
                  <a:lnTo>
                    <a:pt x="10217150" y="0"/>
                  </a:lnTo>
                  <a:cubicBezTo>
                    <a:pt x="10325867" y="0"/>
                    <a:pt x="10414000" y="88133"/>
                    <a:pt x="10414000" y="196850"/>
                  </a:cubicBezTo>
                  <a:lnTo>
                    <a:pt x="10414000" y="1771650"/>
                  </a:lnTo>
                  <a:cubicBezTo>
                    <a:pt x="10414000" y="1880367"/>
                    <a:pt x="10325867" y="1968500"/>
                    <a:pt x="10217150" y="1968500"/>
                  </a:cubicBezTo>
                  <a:lnTo>
                    <a:pt x="196850" y="1968500"/>
                  </a:lnTo>
                  <a:cubicBezTo>
                    <a:pt x="88133" y="1968500"/>
                    <a:pt x="0" y="1880367"/>
                    <a:pt x="0" y="1771650"/>
                  </a:cubicBezTo>
                  <a:lnTo>
                    <a:pt x="0" y="196850"/>
                  </a:lnTo>
                  <a:cubicBezTo>
                    <a:pt x="0" y="88133"/>
                    <a:pt x="88133" y="0"/>
                    <a:pt x="1968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41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5400000">
            <a:off x="9810750" y="676275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81175" y="676275"/>
            <a:ext cx="4305300" cy="34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b="true" sz="1989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CrediCheck - SmartCredit Simulator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6350" y="1666875"/>
            <a:ext cx="938212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0"/>
              </a:lnSpc>
              <a:spcBef>
                <a:spcPct val="0"/>
              </a:spcBef>
            </a:pPr>
            <a:r>
              <a:rPr lang="en-US" b="true" sz="4650" strike="noStrike" u="non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ARQUITECTURA Y COMPETENCIAS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25000" y="2724150"/>
            <a:ext cx="7620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B3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Alineación Profesional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29875" y="3438525"/>
            <a:ext cx="647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Science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29875" y="3771900"/>
            <a:ext cx="6477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Minería de datos y algoritmos (Scikit-Learn).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29875" y="5105400"/>
            <a:ext cx="647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Desarrollo Full-Stack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29875" y="5438775"/>
            <a:ext cx="6477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y diseño web (Python/FastAPI, HTML/JS).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29875" y="6772275"/>
            <a:ext cx="647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Infraestructura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29875" y="7105650"/>
            <a:ext cx="6477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Configuración de ambientes aislados (Docker).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190625" y="2510227"/>
            <a:ext cx="7620000" cy="5902817"/>
          </a:xfrm>
          <a:custGeom>
            <a:avLst/>
            <a:gdLst/>
            <a:ahLst/>
            <a:cxnLst/>
            <a:rect r="r" b="b" t="t" l="l"/>
            <a:pathLst>
              <a:path h="5902817" w="7620000">
                <a:moveTo>
                  <a:pt x="0" y="0"/>
                </a:moveTo>
                <a:lnTo>
                  <a:pt x="7620000" y="0"/>
                </a:lnTo>
                <a:lnTo>
                  <a:pt x="7620000" y="5902816"/>
                </a:lnTo>
                <a:lnTo>
                  <a:pt x="0" y="59028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534775" y="8905875"/>
            <a:ext cx="26898600" cy="2095500"/>
            <a:chOff x="0" y="0"/>
            <a:chExt cx="35864800" cy="279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2657475" y="8905875"/>
            <a:ext cx="17545050" cy="2095500"/>
            <a:chOff x="0" y="0"/>
            <a:chExt cx="233934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934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3393400">
                  <a:moveTo>
                    <a:pt x="11696700" y="0"/>
                  </a:moveTo>
                  <a:lnTo>
                    <a:pt x="23393400" y="2794000"/>
                  </a:lnTo>
                  <a:lnTo>
                    <a:pt x="0" y="2794000"/>
                  </a:lnTo>
                  <a:lnTo>
                    <a:pt x="11696700" y="0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3934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4838700" y="8820150"/>
            <a:ext cx="26898600" cy="2095500"/>
            <a:chOff x="0" y="0"/>
            <a:chExt cx="35864800" cy="279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19950" y="-466725"/>
            <a:ext cx="19450050" cy="1419225"/>
            <a:chOff x="0" y="0"/>
            <a:chExt cx="25933400" cy="189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334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25933400">
                  <a:moveTo>
                    <a:pt x="12966700" y="0"/>
                  </a:moveTo>
                  <a:lnTo>
                    <a:pt x="25933400" y="1892300"/>
                  </a:lnTo>
                  <a:lnTo>
                    <a:pt x="0" y="1892300"/>
                  </a:lnTo>
                  <a:lnTo>
                    <a:pt x="129667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933400" cy="193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4048125" y="106680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0625" y="851535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19175" y="6953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514350" y="0"/>
                </a:moveTo>
                <a:lnTo>
                  <a:pt x="0" y="0"/>
                </a:lnTo>
                <a:lnTo>
                  <a:pt x="0" y="514350"/>
                </a:lnTo>
                <a:lnTo>
                  <a:pt x="514350" y="514350"/>
                </a:lnTo>
                <a:lnTo>
                  <a:pt x="5143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7915275" y="400050"/>
            <a:ext cx="800100" cy="228600"/>
          </a:xfrm>
          <a:custGeom>
            <a:avLst/>
            <a:gdLst/>
            <a:ahLst/>
            <a:cxnLst/>
            <a:rect r="r" b="b" t="t" l="l"/>
            <a:pathLst>
              <a:path h="228600" w="800100">
                <a:moveTo>
                  <a:pt x="800100" y="0"/>
                </a:moveTo>
                <a:lnTo>
                  <a:pt x="0" y="0"/>
                </a:lnTo>
                <a:lnTo>
                  <a:pt x="0" y="228600"/>
                </a:lnTo>
                <a:lnTo>
                  <a:pt x="800100" y="228600"/>
                </a:lnTo>
                <a:lnTo>
                  <a:pt x="8001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81175" y="676275"/>
            <a:ext cx="4305300" cy="34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b="true" sz="1989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CrediCheck - SmartCredit Simulator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6350" y="1647825"/>
            <a:ext cx="1259924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2"/>
              </a:lnSpc>
              <a:spcBef>
                <a:spcPct val="0"/>
              </a:spcBef>
            </a:pPr>
            <a:r>
              <a:rPr lang="en-US" b="true" sz="4685" strike="noStrike" u="non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METODOLOGÍA, ROLES Y RIESGOS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76350" y="2762250"/>
            <a:ext cx="15716250" cy="1857375"/>
            <a:chOff x="0" y="0"/>
            <a:chExt cx="20955000" cy="2476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5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20955000">
                  <a:moveTo>
                    <a:pt x="247650" y="0"/>
                  </a:moveTo>
                  <a:lnTo>
                    <a:pt x="20707350" y="0"/>
                  </a:lnTo>
                  <a:cubicBezTo>
                    <a:pt x="20844123" y="0"/>
                    <a:pt x="20955000" y="110877"/>
                    <a:pt x="20955000" y="247650"/>
                  </a:cubicBezTo>
                  <a:lnTo>
                    <a:pt x="20955000" y="2228850"/>
                  </a:lnTo>
                  <a:cubicBezTo>
                    <a:pt x="20955000" y="2365623"/>
                    <a:pt x="20844123" y="2476500"/>
                    <a:pt x="20707350" y="2476500"/>
                  </a:cubicBezTo>
                  <a:lnTo>
                    <a:pt x="247650" y="2476500"/>
                  </a:lnTo>
                  <a:cubicBezTo>
                    <a:pt x="110877" y="2476500"/>
                    <a:pt x="0" y="2365623"/>
                    <a:pt x="0" y="222885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95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62100" y="3028950"/>
            <a:ext cx="6477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3525" y="3522345"/>
            <a:ext cx="151447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Tradicional (Cascada) con fases documentadas secuencialmente. Cada etapa se completa y valida antes de avanzar a la siguiente, asegurando trazabilidad y control del proceso.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76350" y="4810125"/>
            <a:ext cx="15716250" cy="1857375"/>
            <a:chOff x="0" y="0"/>
            <a:chExt cx="20955000" cy="2476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95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20955000">
                  <a:moveTo>
                    <a:pt x="247650" y="0"/>
                  </a:moveTo>
                  <a:lnTo>
                    <a:pt x="20707350" y="0"/>
                  </a:lnTo>
                  <a:cubicBezTo>
                    <a:pt x="20844123" y="0"/>
                    <a:pt x="20955000" y="110877"/>
                    <a:pt x="20955000" y="247650"/>
                  </a:cubicBezTo>
                  <a:lnTo>
                    <a:pt x="20955000" y="2228850"/>
                  </a:lnTo>
                  <a:cubicBezTo>
                    <a:pt x="20955000" y="2365623"/>
                    <a:pt x="20844123" y="2476500"/>
                    <a:pt x="20707350" y="2476500"/>
                  </a:cubicBezTo>
                  <a:lnTo>
                    <a:pt x="247650" y="2476500"/>
                  </a:lnTo>
                  <a:cubicBezTo>
                    <a:pt x="110877" y="2476500"/>
                    <a:pt x="0" y="2365623"/>
                    <a:pt x="0" y="222885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95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62100" y="5056505"/>
            <a:ext cx="6477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71625" y="5570220"/>
            <a:ext cx="151447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Desarrollo individual asumiendo todos los roles: Data Scientist, Desarrollador Full-Stack, Arquitecto de Software y QA. Gestión integral del ciclo de vida del proyecto.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76350" y="6858000"/>
            <a:ext cx="15716250" cy="1857375"/>
            <a:chOff x="0" y="0"/>
            <a:chExt cx="20955000" cy="2476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95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20955000">
                  <a:moveTo>
                    <a:pt x="247650" y="0"/>
                  </a:moveTo>
                  <a:lnTo>
                    <a:pt x="20707350" y="0"/>
                  </a:lnTo>
                  <a:cubicBezTo>
                    <a:pt x="20844123" y="0"/>
                    <a:pt x="20955000" y="110877"/>
                    <a:pt x="20955000" y="247650"/>
                  </a:cubicBezTo>
                  <a:lnTo>
                    <a:pt x="20955000" y="2228850"/>
                  </a:lnTo>
                  <a:cubicBezTo>
                    <a:pt x="20955000" y="2365623"/>
                    <a:pt x="20844123" y="2476500"/>
                    <a:pt x="20707350" y="2476500"/>
                  </a:cubicBezTo>
                  <a:lnTo>
                    <a:pt x="247650" y="2476500"/>
                  </a:lnTo>
                  <a:cubicBezTo>
                    <a:pt x="110877" y="2476500"/>
                    <a:pt x="0" y="2365623"/>
                    <a:pt x="0" y="2228850"/>
                  </a:cubicBezTo>
                  <a:lnTo>
                    <a:pt x="0" y="247650"/>
                  </a:lnTo>
                  <a:cubicBezTo>
                    <a:pt x="0" y="110877"/>
                    <a:pt x="110877" y="0"/>
                    <a:pt x="2476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095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62100" y="7104380"/>
            <a:ext cx="6477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Mitigación de Riesgos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3525" y="7629525"/>
            <a:ext cx="151447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Alcance MVP de 15 semanas. Se aplicará balanceo estadístico para el modelo ML y Docker-Compose desde el inicio para evitar conflictos de orquestación.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5400000">
            <a:off x="16278225" y="295275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5400000">
            <a:off x="16278225" y="5000625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16278225" y="7048500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534775" y="8905875"/>
            <a:ext cx="26898600" cy="2095500"/>
            <a:chOff x="0" y="0"/>
            <a:chExt cx="35864800" cy="279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2657475" y="8905875"/>
            <a:ext cx="17545050" cy="2095500"/>
            <a:chOff x="0" y="0"/>
            <a:chExt cx="233934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934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3393400">
                  <a:moveTo>
                    <a:pt x="11696700" y="0"/>
                  </a:moveTo>
                  <a:lnTo>
                    <a:pt x="23393400" y="2794000"/>
                  </a:lnTo>
                  <a:lnTo>
                    <a:pt x="0" y="2794000"/>
                  </a:lnTo>
                  <a:lnTo>
                    <a:pt x="11696700" y="0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3934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4838700" y="8820150"/>
            <a:ext cx="26898600" cy="2095500"/>
            <a:chOff x="0" y="0"/>
            <a:chExt cx="35864800" cy="279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19950" y="-466725"/>
            <a:ext cx="19450050" cy="1419225"/>
            <a:chOff x="0" y="0"/>
            <a:chExt cx="25933400" cy="189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334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25933400">
                  <a:moveTo>
                    <a:pt x="12966700" y="0"/>
                  </a:moveTo>
                  <a:lnTo>
                    <a:pt x="25933400" y="1892300"/>
                  </a:lnTo>
                  <a:lnTo>
                    <a:pt x="0" y="1892300"/>
                  </a:lnTo>
                  <a:lnTo>
                    <a:pt x="129667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933400" cy="193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4048125" y="106680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0625" y="851535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19175" y="6953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514350" y="0"/>
                </a:moveTo>
                <a:lnTo>
                  <a:pt x="0" y="0"/>
                </a:lnTo>
                <a:lnTo>
                  <a:pt x="0" y="514350"/>
                </a:lnTo>
                <a:lnTo>
                  <a:pt x="514350" y="514350"/>
                </a:lnTo>
                <a:lnTo>
                  <a:pt x="5143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7915275" y="400050"/>
            <a:ext cx="800100" cy="228600"/>
          </a:xfrm>
          <a:custGeom>
            <a:avLst/>
            <a:gdLst/>
            <a:ahLst/>
            <a:cxnLst/>
            <a:rect r="r" b="b" t="t" l="l"/>
            <a:pathLst>
              <a:path h="228600" w="800100">
                <a:moveTo>
                  <a:pt x="800100" y="0"/>
                </a:moveTo>
                <a:lnTo>
                  <a:pt x="0" y="0"/>
                </a:lnTo>
                <a:lnTo>
                  <a:pt x="0" y="228600"/>
                </a:lnTo>
                <a:lnTo>
                  <a:pt x="800100" y="228600"/>
                </a:lnTo>
                <a:lnTo>
                  <a:pt x="8001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79047" y="6999923"/>
            <a:ext cx="7810500" cy="1476375"/>
            <a:chOff x="0" y="0"/>
            <a:chExt cx="10414000" cy="196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1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0414000">
                  <a:moveTo>
                    <a:pt x="196850" y="0"/>
                  </a:moveTo>
                  <a:lnTo>
                    <a:pt x="10217150" y="0"/>
                  </a:lnTo>
                  <a:cubicBezTo>
                    <a:pt x="10325867" y="0"/>
                    <a:pt x="10414000" y="88133"/>
                    <a:pt x="10414000" y="196850"/>
                  </a:cubicBezTo>
                  <a:lnTo>
                    <a:pt x="10414000" y="1771650"/>
                  </a:lnTo>
                  <a:cubicBezTo>
                    <a:pt x="10414000" y="1880367"/>
                    <a:pt x="10325867" y="1968500"/>
                    <a:pt x="10217150" y="1968500"/>
                  </a:cubicBezTo>
                  <a:lnTo>
                    <a:pt x="196850" y="1968500"/>
                  </a:lnTo>
                  <a:cubicBezTo>
                    <a:pt x="88133" y="1968500"/>
                    <a:pt x="0" y="1880367"/>
                    <a:pt x="0" y="1771650"/>
                  </a:cubicBezTo>
                  <a:lnTo>
                    <a:pt x="0" y="196850"/>
                  </a:lnTo>
                  <a:cubicBezTo>
                    <a:pt x="0" y="88133"/>
                    <a:pt x="88133" y="0"/>
                    <a:pt x="1968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41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5400000">
            <a:off x="1064797" y="7190423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621321" y="6999923"/>
            <a:ext cx="7810500" cy="1476375"/>
            <a:chOff x="0" y="0"/>
            <a:chExt cx="10414000" cy="196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4000" cy="1968500"/>
            </a:xfrm>
            <a:custGeom>
              <a:avLst/>
              <a:gdLst/>
              <a:ahLst/>
              <a:cxnLst/>
              <a:rect r="r" b="b" t="t" l="l"/>
              <a:pathLst>
                <a:path h="1968500" w="10414000">
                  <a:moveTo>
                    <a:pt x="196850" y="0"/>
                  </a:moveTo>
                  <a:lnTo>
                    <a:pt x="10217150" y="0"/>
                  </a:lnTo>
                  <a:cubicBezTo>
                    <a:pt x="10325867" y="0"/>
                    <a:pt x="10414000" y="88133"/>
                    <a:pt x="10414000" y="196850"/>
                  </a:cubicBezTo>
                  <a:lnTo>
                    <a:pt x="10414000" y="1771650"/>
                  </a:lnTo>
                  <a:cubicBezTo>
                    <a:pt x="10414000" y="1880367"/>
                    <a:pt x="10325867" y="1968500"/>
                    <a:pt x="10217150" y="1968500"/>
                  </a:cubicBezTo>
                  <a:lnTo>
                    <a:pt x="196850" y="1968500"/>
                  </a:lnTo>
                  <a:cubicBezTo>
                    <a:pt x="88133" y="1968500"/>
                    <a:pt x="0" y="1880367"/>
                    <a:pt x="0" y="1771650"/>
                  </a:cubicBezTo>
                  <a:lnTo>
                    <a:pt x="0" y="196850"/>
                  </a:lnTo>
                  <a:cubicBezTo>
                    <a:pt x="0" y="88133"/>
                    <a:pt x="88133" y="0"/>
                    <a:pt x="196850" y="0"/>
                  </a:cubicBezTo>
                  <a:close/>
                </a:path>
              </a:pathLst>
            </a:custGeom>
            <a:solidFill>
              <a:srgbClr val="1045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414000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5400000">
            <a:off x="9907071" y="7190423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33525" y="2181225"/>
            <a:ext cx="15256443" cy="3965574"/>
          </a:xfrm>
          <a:custGeom>
            <a:avLst/>
            <a:gdLst/>
            <a:ahLst/>
            <a:cxnLst/>
            <a:rect r="r" b="b" t="t" l="l"/>
            <a:pathLst>
              <a:path h="3965574" w="15256443">
                <a:moveTo>
                  <a:pt x="0" y="0"/>
                </a:moveTo>
                <a:lnTo>
                  <a:pt x="15256443" y="0"/>
                </a:lnTo>
                <a:lnTo>
                  <a:pt x="15256443" y="3965574"/>
                </a:lnTo>
                <a:lnTo>
                  <a:pt x="0" y="39655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81175" y="676275"/>
            <a:ext cx="4305300" cy="34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5"/>
              </a:lnSpc>
              <a:spcBef>
                <a:spcPct val="0"/>
              </a:spcBef>
            </a:pPr>
            <a:r>
              <a:rPr lang="en-US" b="true" sz="1989" strike="noStrike" u="non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CrediCheck - SmartCredit Simulator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6350" y="1343025"/>
            <a:ext cx="938212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b="true" sz="4650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PLANIFICACIÓN Y EVIDENCIAS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5325" y="6378416"/>
            <a:ext cx="7620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B3D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Hitos de Entrega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83922" y="7199948"/>
            <a:ext cx="647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Semana 9 — Avance Técnico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83922" y="7580948"/>
            <a:ext cx="647700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Repositorio GitHub y Arquitectura del sistema documentada. Validación de modelo ML inicial.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26196" y="7199948"/>
            <a:ext cx="647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Semana 14 — Producto Final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26196" y="7580948"/>
            <a:ext cx="647700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Producto final orquestado en Docker con Informe QA completo y documentación de cierre.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1534775" y="8905875"/>
            <a:ext cx="26898600" cy="2095500"/>
            <a:chOff x="0" y="0"/>
            <a:chExt cx="35864800" cy="279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1551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2657475" y="8905875"/>
            <a:ext cx="17545050" cy="2095500"/>
            <a:chOff x="0" y="0"/>
            <a:chExt cx="233934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934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3393400">
                  <a:moveTo>
                    <a:pt x="11696700" y="0"/>
                  </a:moveTo>
                  <a:lnTo>
                    <a:pt x="23393400" y="2794000"/>
                  </a:lnTo>
                  <a:lnTo>
                    <a:pt x="0" y="2794000"/>
                  </a:lnTo>
                  <a:lnTo>
                    <a:pt x="11696700" y="0"/>
                  </a:lnTo>
                  <a:close/>
                </a:path>
              </a:pathLst>
            </a:custGeom>
            <a:solidFill>
              <a:srgbClr val="1D74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3934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4838700" y="8820150"/>
            <a:ext cx="26898600" cy="2095500"/>
            <a:chOff x="0" y="0"/>
            <a:chExt cx="35864800" cy="279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64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5864800">
                  <a:moveTo>
                    <a:pt x="17932400" y="0"/>
                  </a:moveTo>
                  <a:lnTo>
                    <a:pt x="35864800" y="2794000"/>
                  </a:lnTo>
                  <a:lnTo>
                    <a:pt x="0" y="2794000"/>
                  </a:lnTo>
                  <a:lnTo>
                    <a:pt x="179324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8648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19950" y="-466725"/>
            <a:ext cx="19450050" cy="1419225"/>
            <a:chOff x="0" y="0"/>
            <a:chExt cx="25933400" cy="189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33400" cy="1892300"/>
            </a:xfrm>
            <a:custGeom>
              <a:avLst/>
              <a:gdLst/>
              <a:ahLst/>
              <a:cxnLst/>
              <a:rect r="r" b="b" t="t" l="l"/>
              <a:pathLst>
                <a:path h="1892300" w="25933400">
                  <a:moveTo>
                    <a:pt x="12966700" y="0"/>
                  </a:moveTo>
                  <a:lnTo>
                    <a:pt x="25933400" y="1892300"/>
                  </a:lnTo>
                  <a:lnTo>
                    <a:pt x="0" y="1892300"/>
                  </a:lnTo>
                  <a:lnTo>
                    <a:pt x="12966700" y="0"/>
                  </a:lnTo>
                  <a:close/>
                </a:path>
              </a:pathLst>
            </a:custGeom>
            <a:solidFill>
              <a:srgbClr val="0B3D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933400" cy="193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4048125" y="106680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0625" y="8515350"/>
            <a:ext cx="5133975" cy="5124450"/>
          </a:xfrm>
          <a:custGeom>
            <a:avLst/>
            <a:gdLst/>
            <a:ahLst/>
            <a:cxnLst/>
            <a:rect r="r" b="b" t="t" l="l"/>
            <a:pathLst>
              <a:path h="5124450" w="5133975">
                <a:moveTo>
                  <a:pt x="0" y="0"/>
                </a:moveTo>
                <a:lnTo>
                  <a:pt x="5133975" y="0"/>
                </a:lnTo>
                <a:lnTo>
                  <a:pt x="5133975" y="5124450"/>
                </a:lnTo>
                <a:lnTo>
                  <a:pt x="0" y="5124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19175" y="6953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514350" y="0"/>
                </a:moveTo>
                <a:lnTo>
                  <a:pt x="0" y="0"/>
                </a:lnTo>
                <a:lnTo>
                  <a:pt x="0" y="514350"/>
                </a:lnTo>
                <a:lnTo>
                  <a:pt x="514350" y="514350"/>
                </a:lnTo>
                <a:lnTo>
                  <a:pt x="5143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7915275" y="400050"/>
            <a:ext cx="800100" cy="228600"/>
          </a:xfrm>
          <a:custGeom>
            <a:avLst/>
            <a:gdLst/>
            <a:ahLst/>
            <a:cxnLst/>
            <a:rect r="r" b="b" t="t" l="l"/>
            <a:pathLst>
              <a:path h="228600" w="800100">
                <a:moveTo>
                  <a:pt x="800100" y="0"/>
                </a:moveTo>
                <a:lnTo>
                  <a:pt x="0" y="0"/>
                </a:lnTo>
                <a:lnTo>
                  <a:pt x="0" y="228600"/>
                </a:lnTo>
                <a:lnTo>
                  <a:pt x="800100" y="228600"/>
                </a:lnTo>
                <a:lnTo>
                  <a:pt x="8001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81175" y="676275"/>
            <a:ext cx="4305300" cy="34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5"/>
              </a:lnSpc>
              <a:spcBef>
                <a:spcPct val="0"/>
              </a:spcBef>
            </a:pPr>
            <a:r>
              <a:rPr lang="en-US" b="true" sz="1989" strike="noStrike" u="none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CrediCheck - SmartCredit Simulator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29000" y="4012406"/>
            <a:ext cx="11430000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b="true" sz="7200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¡GRACIAS POR</a:t>
            </a:r>
          </a:p>
          <a:p>
            <a:pPr algn="ctr">
              <a:lnSpc>
                <a:spcPts val="7920"/>
              </a:lnSpc>
            </a:pPr>
            <a:r>
              <a:rPr lang="en-US" b="true" sz="7200">
                <a:solidFill>
                  <a:srgbClr val="0B3D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 ATENCIÓN!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715250" y="6326981"/>
            <a:ext cx="2857500" cy="0"/>
          </a:xfrm>
          <a:prstGeom prst="line">
            <a:avLst/>
          </a:prstGeom>
          <a:ln cap="flat" w="28575">
            <a:solidFill>
              <a:srgbClr val="1D748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DAHVVvV2toA</dc:identifier>
  <dcterms:modified xsi:type="dcterms:W3CDTF">2011-08-01T06:04:30Z</dcterms:modified>
  <cp:revision>1</cp:revision>
  <dc:title>Crea una presentación profesional sobre un proyecto tecnológico FinTech con la siguiente estructura: Diapositiva 1: Portada Título: CrediCheck: SmartCredit Simulator Subtítulo: Plataforma FinTech de Pre-evaluación Crediticia Autor: Daniel Ahumada Ubeda -</dc:title>
</cp:coreProperties>
</file>
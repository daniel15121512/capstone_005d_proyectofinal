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Buenas tardes. Soy Daniel Ahumada y les presento el avance de CrediCheck, una plataforma web que permite simular la evaluación de riesgo crediticio y que además educa al usuario sobre su salud financiera, sin afectar su historial real. Voy a mostrar el estado actual, los ajustes a la propuesta, cómo va el plan de trabajo, los aspectos técnicos y una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Introducción y estado actual. CrediCheck resuelve un problema concreto: las personas piden créditos sin conocer su riesgo real y acumulan rechazos, y los bancos funcionan como una caja negra. Mi propuesta es un entorno de simulación que además explica qué variables afectan el riesgo. A la fecha tengo completada la documentación (requerimientos, diseño arquitectónico y diagramas UML) y la base de datos relacional en SQL Server. El prototipo web ya es funcional: el usuario ingresa sus datos, la API en FastAPI calcula el score y el nivel de riesgo, y la interfaz muestra el resultado con un tip financiero. El modelo de Machine Learning está en curso: hoy el motor usa reglas de scoring y lo reemplazará un modelo entrenado con Scikit-Learn bajo la metodología CRISP-DM. Queda pendiente la migración a React, la autenticación con JWT, el historial, Docker y el plan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Ajustes a la propuesta. El principal cambio es arquitectónico: pasé de un frontend renderizado en el servidor a una arquitectura desacoplada, con un frontend en React que consume una API REST en FastAPI. Esto mejora la seguridad, porque la API y la base de datos quedan aisladas, y la escalabilidad, porque el mismo backend serviría a una app móvil. También amplié el alcance con registro de usuarios, autenticación con tokens JWT e historial de simulaciones, que se guardan en SQL Server. Entre las dificultades: compatibilizar el desarrollo con mi intercambio académico, depurar valores atípicos del dataset público y servir la predicción del modelo en tiempo real. Los facilitadores son la metodología en cascada, que deja evidencia en cada etapa, el uso de datasets públicos de Kaggle, que evita manejar datos reales, y una API reutilizable.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Monitoreo del plan. Trabajo con metodología en cascada, así que cada etapa se valida antes de pasar a la siguiente. La etapa de diseño de arquitectura y base de datos está completa: tengo el SRS, el documento de diseño, los diagramas UML y el script de SQL Server ejecutado. El desarrollo de API y frontend está en curso, con un prototipo funcional, y falta migrar a React. El modelo de Machine Learning va más lento de lo planificado: hoy funciona con reglas de scoring y la mitigación es entrenar con un dataset público y aplicar balanceo estadístico. QA y Docker son las etapas finales y siguen pendientes. El hito de avance comprometido en la Fase 1, repositorio público con README, UML y modelo de datos relacional, está cumplido.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Aspectos técnicos: arquitectura. Es una arquitectura cliente-servidor desacoplada en tres capas. El navegador ejecuta el frontend, que nunca habla directamente con la base de datos: toda comunicación pasa por la API REST sobre HTTPS, intercambiando JSON. La API en FastAPI valida los datos con Pydantic, autentica con tokens JWT, ejecuta el motor de scoring y persiste los resultados en SQL Server. Esta separación permite escalar o reemplazar cada capa de forma independiente. El despliegue se orquestará con Docker Compose en tres contenedores. Hoy el frontend es un prototipo en HTML y JavaScript; la versión final será una aplicación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Aspectos técnicos: modelo de datos. La base de datos relacional en SQL Server tiene dos entidades: Usuario y Simulacion, con una relación uno a muchos mediante la llave foránea id_usuario. La lógica de integridad vive en la base: el correo es único, las contraseñas se guardan solo como hash, ningún monto puede ser negativo y el nivel de riesgo solo admite Bajo, Medio o Alto. Además creé procedimientos almacenados para registrar usuarios, obtenerlos al iniciar sesión, guardar simulaciones y consultar el historial. En pantalla ven la consulta de verificación con datos de prueba: tres simulaciones del mismo usuario con riesgo alto, medio y bajo. Lo que sigue es conectar la API con esta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Demo en vivo. Antes de abrir la demo: backend de FastAPI corriendo y la página abierta en una pestaña; ten a mano capturas de pantalla por si falla la conexión. Guion: 1) Inicio de sesión: muestro la pantalla de acceso e ingreso con un usuario de prueba, y destaco que la interfaz se comunica con la API mediante peticiones HTTP. 2) Simulación: completo el formulario con ingresos, deudas actuales y monto solicitado; menciono que los campos numéricos no aceptan valores negativos. 3) Resultado: presiono Evaluar Riesgo y muestro el score, el nivel de riesgo (Bajo, Medio o Alto), la barra de progreso y el tip financiero asociado; explico que el motor hoy usa reglas de scoring y será reemplazado por el modelo entrenado con CRISP-DM. 4) Educación financiera: abro los módulos informativos y muestro cómo el contenido se relaciona con el nivel de riesgo. Cierro mostrando brevemente en SQL Server la base ya creada, que se conectará con la API en la siguiente etapa. Si algo falla, explicar con calma lo que ocurre es mejor que improvisar.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Cierre. Resumen: la documentación, el modelo de datos y un prototipo funcional están listos; los próximos pasos son entrenar el modelo con CRISP-DM, conectar la API con SQL Server, migrar a React, orquestar con Docker Compose y ejecutar el plan de pruebas. Respuestas preparadas para preguntas: 1) ¿Por qué React y una arquitectura desacoplada? Porque separa la interfaz de la lógica y los datos, mejora la seguridad al aislar la API y permite reutilizar el backend en una app móvil. 2) ¿Cómo protegen las contraseñas? Se guardan solo como hash en la base y la sesión se maneja con tokens JWT con expiración. 3) ¿En qué estado está el modelo de ML? Hoy opera con reglas de scoring; el modelo se entrenará con un dataset público de Kaggle, con limpieza de datos y balanceo estadístico. 4) ¿Qué lo hace innovador? Funciona como un entorno seguro y educativo: explica qué variables afectan el riesgo y no deja huella en el historial crediticio real. 5) ¿Cómo mitigan el riesgo de tiempo? Alcance acotado a un MVP y etapas validadas en cascada.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E2B2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0E2B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E2B2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0E2B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B2A"/>
        </a:solidFill>
      </p:bgPr>
    </p:bg>
    <p:spTree>
      <p:nvGrpSpPr>
        <p:cNvPr id="1" name=""/>
        <p:cNvGrpSpPr/>
        <p:nvPr/>
      </p:nvGrpSpPr>
      <p:grpSpPr>
        <a:xfrm>
          <a:off x="0" y="0"/>
          <a:ext cx="0" cy="0"/>
          <a:chOff x="0" y="0"/>
          <a:chExt cx="0" cy="0"/>
        </a:xfrm>
      </p:grpSpPr>
      <p:sp>
        <p:nvSpPr>
          <p:cNvPr id="2" name="Text 0"/>
          <p:cNvSpPr/>
          <p:nvPr/>
        </p:nvSpPr>
        <p:spPr>
          <a:xfrm>
            <a:off x="812800" y="812800"/>
            <a:ext cx="5886450" cy="52324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A3"/>
                </a:solidFill>
                <a:latin typeface="IBM Plex Sans" pitchFamily="34" charset="0"/>
                <a:ea typeface="IBM Plex Sans" pitchFamily="34" charset="-122"/>
                <a:cs typeface="IBM Plex Sans" pitchFamily="34" charset="-120"/>
              </a:rPr>
              <a:t>PORTAFOLIO DE TÍTULO · SEGUNDA EVALUACIÓN PARCIAL</a:t>
            </a:r>
            <a:endParaRPr lang="en-US" sz="1400" dirty="0"/>
          </a:p>
        </p:txBody>
      </p:sp>
      <p:sp>
        <p:nvSpPr>
          <p:cNvPr id="3" name="Text 1"/>
          <p:cNvSpPr/>
          <p:nvPr>
            <p:ph type="title"/>
          </p:nvPr>
        </p:nvSpPr>
        <p:spPr>
          <a:xfrm>
            <a:off x="812800" y="2434590"/>
            <a:ext cx="5624830" cy="990600"/>
          </a:xfrm>
          <a:prstGeom prst="rect">
            <a:avLst/>
          </a:prstGeom>
          <a:noFill/>
          <a:ln/>
        </p:spPr>
        <p:txBody>
          <a:bodyPr wrap="square" lIns="0" tIns="0" rIns="0" bIns="0" rtlCol="0" anchor="t">
            <a:normAutofit/>
          </a:bodyPr>
          <a:lstStyle/>
          <a:p>
            <a:pPr algn="l" indent="0" marL="0">
              <a:lnSpc>
                <a:spcPts val="7600"/>
              </a:lnSpc>
              <a:buNone/>
            </a:pPr>
            <a:r>
              <a:rPr lang="en-US" sz="7600" b="1" i="0" dirty="0">
                <a:solidFill>
                  <a:srgbClr val="EEF1EA"/>
                </a:solidFill>
                <a:latin typeface="EB Garamond" pitchFamily="18" charset="0"/>
                <a:ea typeface="EB Garamond" pitchFamily="18" charset="-122"/>
                <a:cs typeface="EB Garamond" pitchFamily="18" charset="-120"/>
              </a:rPr>
              <a:t>CrediCheck</a:t>
            </a:r>
            <a:endParaRPr lang="en-US" sz="7600" dirty="0"/>
          </a:p>
        </p:txBody>
      </p:sp>
      <p:sp>
        <p:nvSpPr>
          <p:cNvPr id="4" name="Text 2"/>
          <p:cNvSpPr/>
          <p:nvPr/>
        </p:nvSpPr>
        <p:spPr>
          <a:xfrm>
            <a:off x="812800" y="3602990"/>
            <a:ext cx="536321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C9DAD6"/>
                </a:solidFill>
                <a:latin typeface="IBM Plex Sans" pitchFamily="34" charset="0"/>
                <a:ea typeface="IBM Plex Sans" pitchFamily="34" charset="-122"/>
                <a:cs typeface="IBM Plex Sans" pitchFamily="34" charset="-120"/>
              </a:rPr>
              <a:t>Simulador de riesgo crediticio y educación financiera</a:t>
            </a:r>
            <a:endParaRPr lang="en-US" sz="2200" dirty="0"/>
          </a:p>
        </p:txBody>
      </p:sp>
      <p:sp>
        <p:nvSpPr>
          <p:cNvPr id="5" name="Text 3"/>
          <p:cNvSpPr/>
          <p:nvPr/>
        </p:nvSpPr>
        <p:spPr>
          <a:xfrm>
            <a:off x="812800" y="5425440"/>
            <a:ext cx="588645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EF1EA"/>
                </a:solidFill>
                <a:latin typeface="IBM Plex Sans" pitchFamily="34" charset="0"/>
                <a:ea typeface="IBM Plex Sans" pitchFamily="34" charset="-122"/>
                <a:cs typeface="IBM Plex Sans" pitchFamily="34" charset="-120"/>
              </a:rPr>
              <a:t>Daniel Ahumada Ubeda</a:t>
            </a:r>
            <a:endParaRPr lang="en-US" sz="1800" dirty="0"/>
          </a:p>
        </p:txBody>
      </p:sp>
      <p:sp>
        <p:nvSpPr>
          <p:cNvPr id="6" name="Text 4"/>
          <p:cNvSpPr/>
          <p:nvPr/>
        </p:nvSpPr>
        <p:spPr>
          <a:xfrm>
            <a:off x="812800" y="5796280"/>
            <a:ext cx="58864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BE"/>
                </a:solidFill>
                <a:latin typeface="IBM Plex Sans" pitchFamily="34" charset="0"/>
                <a:ea typeface="IBM Plex Sans" pitchFamily="34" charset="-122"/>
                <a:cs typeface="IBM Plex Sans" pitchFamily="34" charset="-120"/>
              </a:rPr>
              <a:t>Ingeniería en Informática · Duoc UC · Avance del proyecto</a:t>
            </a:r>
            <a:endParaRPr lang="en-US" sz="1400" dirty="0"/>
          </a:p>
        </p:txBody>
      </p:sp>
      <p:pic>
        <p:nvPicPr>
          <p:cNvPr id="7" name="Image 0" descr="Medidor de riesgo con tres tramos, del rojo al verde, y una aguja en la zona verde">    </p:cNvPr>
          <p:cNvPicPr>
            <a:picLocks noChangeAspect="1"/>
          </p:cNvPicPr>
          <p:nvPr/>
        </p:nvPicPr>
        <p:blipFill>
          <a:blip r:embed="rId1"/>
          <a:srcRect l="0" r="0" t="0" b="0"/>
          <a:stretch/>
        </p:blipFill>
        <p:spPr>
          <a:xfrm>
            <a:off x="6540500" y="1524000"/>
            <a:ext cx="4445000" cy="2413000"/>
          </a:xfrm>
          <a:prstGeom prst="rect">
            <a:avLst/>
          </a:prstGeom>
        </p:spPr>
      </p:pic>
      <p:sp>
        <p:nvSpPr>
          <p:cNvPr id="8" name="Text 5"/>
          <p:cNvSpPr/>
          <p:nvPr/>
        </p:nvSpPr>
        <p:spPr>
          <a:xfrm>
            <a:off x="7127875" y="4191000"/>
            <a:ext cx="3270250" cy="838200"/>
          </a:xfrm>
          <a:prstGeom prst="rect">
            <a:avLst/>
          </a:prstGeom>
          <a:noFill/>
          <a:ln/>
        </p:spPr>
        <p:txBody>
          <a:bodyPr wrap="square" lIns="0" tIns="0" rIns="0" bIns="0" rtlCol="0" anchor="t">
            <a:normAutofit/>
          </a:bodyPr>
          <a:lstStyle/>
          <a:p>
            <a:pPr algn="ctr" indent="0" marL="0">
              <a:lnSpc>
                <a:spcPts val="6400"/>
              </a:lnSpc>
              <a:buNone/>
            </a:pPr>
            <a:r>
              <a:rPr lang="en-US" sz="6400" b="1" dirty="0">
                <a:solidFill>
                  <a:srgbClr val="5FD3A3"/>
                </a:solidFill>
                <a:latin typeface="EB Garamond" pitchFamily="18" charset="0"/>
                <a:ea typeface="EB Garamond" pitchFamily="18" charset="-122"/>
                <a:cs typeface="EB Garamond" pitchFamily="18" charset="-120"/>
              </a:rPr>
              <a:t>720</a:t>
            </a:r>
            <a:endParaRPr lang="en-US" sz="6400" dirty="0"/>
          </a:p>
        </p:txBody>
      </p:sp>
      <p:sp>
        <p:nvSpPr>
          <p:cNvPr id="9" name="Text 6"/>
          <p:cNvSpPr/>
          <p:nvPr/>
        </p:nvSpPr>
        <p:spPr>
          <a:xfrm>
            <a:off x="6800850" y="5143500"/>
            <a:ext cx="3924300"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A9C2BE"/>
                </a:solidFill>
                <a:latin typeface="IBM Plex Sans" pitchFamily="34" charset="0"/>
                <a:ea typeface="IBM Plex Sans" pitchFamily="34" charset="-122"/>
                <a:cs typeface="IBM Plex Sans" pitchFamily="34" charset="-120"/>
              </a:rPr>
              <a:t>Ejemplo de resultado: riesgo bajo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B2A"/>
                </a:solidFill>
                <a:latin typeface="EB Garamond" pitchFamily="18" charset="0"/>
                <a:ea typeface="EB Garamond" pitchFamily="18" charset="-122"/>
                <a:cs typeface="EB Garamond" pitchFamily="18" charset="-120"/>
              </a:rPr>
              <a:t>Estado actual del proyecto</a:t>
            </a:r>
            <a:endParaRPr lang="en-US" sz="3600" dirty="0"/>
          </a:p>
        </p:txBody>
      </p:sp>
      <p:sp>
        <p:nvSpPr>
          <p:cNvPr id="3" name="Text 1"/>
          <p:cNvSpPr/>
          <p:nvPr/>
        </p:nvSpPr>
        <p:spPr>
          <a:xfrm>
            <a:off x="812800" y="1468120"/>
            <a:ext cx="1088339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B6260"/>
                </a:solidFill>
                <a:latin typeface="IBM Plex Sans" pitchFamily="34" charset="0"/>
                <a:ea typeface="IBM Plex Sans" pitchFamily="34" charset="-122"/>
                <a:cs typeface="IBM Plex Sans" pitchFamily="34" charset="-120"/>
              </a:rPr>
              <a:t>Simulador de riesgo crediticio que explica el resultado y no deja huella en el historial real.</a:t>
            </a:r>
            <a:endParaRPr lang="en-US" sz="1500" dirty="0"/>
          </a:p>
        </p:txBody>
      </p:sp>
      <p:sp>
        <p:nvSpPr>
          <p:cNvPr id="4" name="Shape 2"/>
          <p:cNvSpPr/>
          <p:nvPr/>
        </p:nvSpPr>
        <p:spPr>
          <a:xfrm>
            <a:off x="815975" y="1871345"/>
            <a:ext cx="3414157" cy="1464310"/>
          </a:xfrm>
          <a:prstGeom prst="roundRect">
            <a:avLst>
              <a:gd name="adj" fmla="val 8456"/>
            </a:avLst>
          </a:prstGeom>
          <a:solidFill>
            <a:srgbClr val="FAFBF7"/>
          </a:solidFill>
          <a:ln w="6350">
            <a:solidFill>
              <a:srgbClr val="D3DBD1"/>
            </a:solidFill>
            <a:prstDash val="solid"/>
          </a:ln>
        </p:spPr>
      </p:sp>
      <p:pic>
        <p:nvPicPr>
          <p:cNvPr id="5" name="Image 0" descr="Book">    </p:cNvPr>
          <p:cNvPicPr>
            <a:picLocks noChangeAspect="1"/>
          </p:cNvPicPr>
          <p:nvPr/>
        </p:nvPicPr>
        <p:blipFill>
          <a:blip r:embed="rId1"/>
          <a:srcRect l="0" r="0" t="0" b="0"/>
          <a:stretch/>
        </p:blipFill>
        <p:spPr>
          <a:xfrm>
            <a:off x="995680" y="2068830"/>
            <a:ext cx="254000" cy="254000"/>
          </a:xfrm>
          <a:prstGeom prst="rect">
            <a:avLst/>
          </a:prstGeom>
        </p:spPr>
      </p:pic>
      <p:sp>
        <p:nvSpPr>
          <p:cNvPr id="6" name="Text 3"/>
          <p:cNvSpPr/>
          <p:nvPr/>
        </p:nvSpPr>
        <p:spPr>
          <a:xfrm>
            <a:off x="2962116" y="2051050"/>
            <a:ext cx="1088311" cy="289560"/>
          </a:xfrm>
          <a:custGeom>
            <a:avLst/>
            <a:gdLst/>
            <a:ahLst/>
            <a:cxnLst/>
            <a:rect l="l" t="t" r="r" b="b"/>
            <a:pathLst>
              <a:path w="1088311" h="289560">
                <a:moveTo>
                  <a:pt x="144780" y="0"/>
                </a:moveTo>
                <a:lnTo>
                  <a:pt x="943531" y="0"/>
                </a:lnTo>
                <a:arcTo hR="144780" wR="144780" stAng="16200000" swAng="5400000"/>
                <a:lnTo>
                  <a:pt x="1088311" y="144780"/>
                </a:lnTo>
                <a:arcTo hR="144780" wR="144780" stAng="0" swAng="5400000"/>
                <a:lnTo>
                  <a:pt x="144780" y="289560"/>
                </a:lnTo>
                <a:arcTo hR="144780" wR="144780" stAng="5400000" swAng="5400000"/>
                <a:lnTo>
                  <a:pt x="0" y="144780"/>
                </a:lnTo>
                <a:arcTo hR="144780" wR="144780" stAng="10800000" swAng="5400000"/>
                <a:close/>
              </a:path>
            </a:pathLst>
          </a:custGeom>
          <a:solidFill>
            <a:srgbClr val="D3EBDD"/>
          </a:solidFill>
          <a:ln/>
        </p:spPr>
        <p:txBody>
          <a:bodyPr wrap="none" lIns="0" tIns="0" rIns="0" bIns="0" rtlCol="0" anchor="ctr">
            <a:normAutofit/>
          </a:bodyPr>
          <a:lstStyle/>
          <a:p>
            <a:pPr algn="ctr" indent="0" marL="0">
              <a:lnSpc>
                <a:spcPts val="1680"/>
              </a:lnSpc>
              <a:buNone/>
            </a:pPr>
            <a:r>
              <a:rPr lang="en-US" sz="1200" b="1" dirty="0">
                <a:solidFill>
                  <a:srgbClr val="0F5A3F"/>
                </a:solidFill>
                <a:latin typeface="IBM Plex Sans" pitchFamily="34" charset="0"/>
                <a:ea typeface="IBM Plex Sans" pitchFamily="34" charset="-122"/>
                <a:cs typeface="IBM Plex Sans" pitchFamily="34" charset="-120"/>
              </a:rPr>
              <a:t>Completado</a:t>
            </a:r>
            <a:endParaRPr lang="en-US" sz="1200" dirty="0"/>
          </a:p>
        </p:txBody>
      </p:sp>
      <p:sp>
        <p:nvSpPr>
          <p:cNvPr id="7" name="Text 4"/>
          <p:cNvSpPr/>
          <p:nvPr/>
        </p:nvSpPr>
        <p:spPr>
          <a:xfrm>
            <a:off x="995680" y="2404110"/>
            <a:ext cx="31463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Documentación</a:t>
            </a:r>
            <a:endParaRPr lang="en-US" sz="1700" dirty="0"/>
          </a:p>
        </p:txBody>
      </p:sp>
      <p:sp>
        <p:nvSpPr>
          <p:cNvPr id="8" name="Text 5"/>
          <p:cNvSpPr/>
          <p:nvPr/>
        </p:nvSpPr>
        <p:spPr>
          <a:xfrm>
            <a:off x="995680" y="2726690"/>
            <a:ext cx="314638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6260"/>
                </a:solidFill>
                <a:latin typeface="IBM Plex Sans" pitchFamily="34" charset="0"/>
                <a:ea typeface="IBM Plex Sans" pitchFamily="34" charset="-122"/>
                <a:cs typeface="IBM Plex Sans" pitchFamily="34" charset="-120"/>
              </a:rPr>
              <a:t>Requerimientos, diseño arquitectónico y diagramas UML.</a:t>
            </a:r>
            <a:endParaRPr lang="en-US" sz="1300" dirty="0"/>
          </a:p>
        </p:txBody>
      </p:sp>
      <p:sp>
        <p:nvSpPr>
          <p:cNvPr id="9" name="Shape 6"/>
          <p:cNvSpPr/>
          <p:nvPr/>
        </p:nvSpPr>
        <p:spPr>
          <a:xfrm>
            <a:off x="4388882" y="1871345"/>
            <a:ext cx="3414157" cy="1464310"/>
          </a:xfrm>
          <a:prstGeom prst="roundRect">
            <a:avLst>
              <a:gd name="adj" fmla="val 8456"/>
            </a:avLst>
          </a:prstGeom>
          <a:solidFill>
            <a:srgbClr val="FAFBF7"/>
          </a:solidFill>
          <a:ln w="6350">
            <a:solidFill>
              <a:srgbClr val="D3DBD1"/>
            </a:solidFill>
            <a:prstDash val="solid"/>
          </a:ln>
        </p:spPr>
      </p:sp>
      <p:pic>
        <p:nvPicPr>
          <p:cNvPr id="10" name="Image 1" descr="Database">    </p:cNvPr>
          <p:cNvPicPr>
            <a:picLocks noChangeAspect="1"/>
          </p:cNvPicPr>
          <p:nvPr/>
        </p:nvPicPr>
        <p:blipFill>
          <a:blip r:embed="rId2"/>
          <a:srcRect l="0" r="0" t="0" b="0"/>
          <a:stretch/>
        </p:blipFill>
        <p:spPr>
          <a:xfrm>
            <a:off x="4568587" y="2068830"/>
            <a:ext cx="254000" cy="254000"/>
          </a:xfrm>
          <a:prstGeom prst="rect">
            <a:avLst/>
          </a:prstGeom>
        </p:spPr>
      </p:pic>
      <p:sp>
        <p:nvSpPr>
          <p:cNvPr id="11" name="Text 7"/>
          <p:cNvSpPr/>
          <p:nvPr/>
        </p:nvSpPr>
        <p:spPr>
          <a:xfrm>
            <a:off x="6535024" y="2051050"/>
            <a:ext cx="1088311" cy="289560"/>
          </a:xfrm>
          <a:custGeom>
            <a:avLst/>
            <a:gdLst/>
            <a:ahLst/>
            <a:cxnLst/>
            <a:rect l="l" t="t" r="r" b="b"/>
            <a:pathLst>
              <a:path w="1088311" h="289560">
                <a:moveTo>
                  <a:pt x="144780" y="0"/>
                </a:moveTo>
                <a:lnTo>
                  <a:pt x="943531" y="0"/>
                </a:lnTo>
                <a:arcTo hR="144780" wR="144780" stAng="16200000" swAng="5400000"/>
                <a:lnTo>
                  <a:pt x="1088311" y="144780"/>
                </a:lnTo>
                <a:arcTo hR="144780" wR="144780" stAng="0" swAng="5400000"/>
                <a:lnTo>
                  <a:pt x="144780" y="289560"/>
                </a:lnTo>
                <a:arcTo hR="144780" wR="144780" stAng="5400000" swAng="5400000"/>
                <a:lnTo>
                  <a:pt x="0" y="144780"/>
                </a:lnTo>
                <a:arcTo hR="144780" wR="144780" stAng="10800000" swAng="5400000"/>
                <a:close/>
              </a:path>
            </a:pathLst>
          </a:custGeom>
          <a:solidFill>
            <a:srgbClr val="D3EBDD"/>
          </a:solidFill>
          <a:ln/>
        </p:spPr>
        <p:txBody>
          <a:bodyPr wrap="none" lIns="0" tIns="0" rIns="0" bIns="0" rtlCol="0" anchor="ctr">
            <a:normAutofit/>
          </a:bodyPr>
          <a:lstStyle/>
          <a:p>
            <a:pPr algn="ctr" indent="0" marL="0">
              <a:lnSpc>
                <a:spcPts val="1680"/>
              </a:lnSpc>
              <a:buNone/>
            </a:pPr>
            <a:r>
              <a:rPr lang="en-US" sz="1200" b="1" dirty="0">
                <a:solidFill>
                  <a:srgbClr val="0F5A3F"/>
                </a:solidFill>
                <a:latin typeface="IBM Plex Sans" pitchFamily="34" charset="0"/>
                <a:ea typeface="IBM Plex Sans" pitchFamily="34" charset="-122"/>
                <a:cs typeface="IBM Plex Sans" pitchFamily="34" charset="-120"/>
              </a:rPr>
              <a:t>Completado</a:t>
            </a:r>
            <a:endParaRPr lang="en-US" sz="1200" dirty="0"/>
          </a:p>
        </p:txBody>
      </p:sp>
      <p:sp>
        <p:nvSpPr>
          <p:cNvPr id="12" name="Text 8"/>
          <p:cNvSpPr/>
          <p:nvPr/>
        </p:nvSpPr>
        <p:spPr>
          <a:xfrm>
            <a:off x="4568587" y="2404110"/>
            <a:ext cx="31463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Base de datos</a:t>
            </a:r>
            <a:endParaRPr lang="en-US" sz="1700" dirty="0"/>
          </a:p>
        </p:txBody>
      </p:sp>
      <p:sp>
        <p:nvSpPr>
          <p:cNvPr id="13" name="Text 9"/>
          <p:cNvSpPr/>
          <p:nvPr/>
        </p:nvSpPr>
        <p:spPr>
          <a:xfrm>
            <a:off x="4568587" y="2726690"/>
            <a:ext cx="314638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6260"/>
                </a:solidFill>
                <a:latin typeface="IBM Plex Sans" pitchFamily="34" charset="0"/>
                <a:ea typeface="IBM Plex Sans" pitchFamily="34" charset="-122"/>
                <a:cs typeface="IBM Plex Sans" pitchFamily="34" charset="-120"/>
              </a:rPr>
              <a:t>SQL Server con tablas, restricciones y procedimientos almacenados.</a:t>
            </a:r>
            <a:endParaRPr lang="en-US" sz="1300" dirty="0"/>
          </a:p>
        </p:txBody>
      </p:sp>
      <p:sp>
        <p:nvSpPr>
          <p:cNvPr id="14" name="Shape 10"/>
          <p:cNvSpPr/>
          <p:nvPr/>
        </p:nvSpPr>
        <p:spPr>
          <a:xfrm>
            <a:off x="7961789" y="1871345"/>
            <a:ext cx="3414157" cy="1464310"/>
          </a:xfrm>
          <a:prstGeom prst="roundRect">
            <a:avLst>
              <a:gd name="adj" fmla="val 8456"/>
            </a:avLst>
          </a:prstGeom>
          <a:solidFill>
            <a:srgbClr val="FAFBF7"/>
          </a:solidFill>
          <a:ln w="6350">
            <a:solidFill>
              <a:srgbClr val="D3DBD1"/>
            </a:solidFill>
            <a:prstDash val="solid"/>
          </a:ln>
        </p:spPr>
      </p:sp>
      <p:pic>
        <p:nvPicPr>
          <p:cNvPr id="15" name="Image 2" descr="Globe">    </p:cNvPr>
          <p:cNvPicPr>
            <a:picLocks noChangeAspect="1"/>
          </p:cNvPicPr>
          <p:nvPr/>
        </p:nvPicPr>
        <p:blipFill>
          <a:blip r:embed="rId3"/>
          <a:srcRect l="0" r="0" t="0" b="0"/>
          <a:stretch/>
        </p:blipFill>
        <p:spPr>
          <a:xfrm>
            <a:off x="8141494" y="2068830"/>
            <a:ext cx="254000" cy="254000"/>
          </a:xfrm>
          <a:prstGeom prst="rect">
            <a:avLst/>
          </a:prstGeom>
        </p:spPr>
      </p:pic>
      <p:sp>
        <p:nvSpPr>
          <p:cNvPr id="16" name="Text 11"/>
          <p:cNvSpPr/>
          <p:nvPr/>
        </p:nvSpPr>
        <p:spPr>
          <a:xfrm>
            <a:off x="10278745" y="2051050"/>
            <a:ext cx="917496" cy="289560"/>
          </a:xfrm>
          <a:custGeom>
            <a:avLst/>
            <a:gdLst/>
            <a:ahLst/>
            <a:cxnLst/>
            <a:rect l="l" t="t" r="r" b="b"/>
            <a:pathLst>
              <a:path w="917496" h="289560">
                <a:moveTo>
                  <a:pt x="144780" y="0"/>
                </a:moveTo>
                <a:lnTo>
                  <a:pt x="772716" y="0"/>
                </a:lnTo>
                <a:arcTo hR="144780" wR="144780" stAng="16200000" swAng="5400000"/>
                <a:lnTo>
                  <a:pt x="917496" y="144780"/>
                </a:lnTo>
                <a:arcTo hR="144780" wR="144780" stAng="0" swAng="5400000"/>
                <a:lnTo>
                  <a:pt x="144780" y="289560"/>
                </a:lnTo>
                <a:arcTo hR="144780" wR="144780" stAng="5400000" swAng="5400000"/>
                <a:lnTo>
                  <a:pt x="0" y="144780"/>
                </a:lnTo>
                <a:arcTo hR="144780" wR="144780" stAng="10800000" swAng="5400000"/>
                <a:close/>
              </a:path>
            </a:pathLst>
          </a:custGeom>
          <a:solidFill>
            <a:srgbClr val="D3EBDD"/>
          </a:solidFill>
          <a:ln/>
        </p:spPr>
        <p:txBody>
          <a:bodyPr wrap="none" lIns="0" tIns="0" rIns="0" bIns="0" rtlCol="0" anchor="ctr">
            <a:normAutofit/>
          </a:bodyPr>
          <a:lstStyle/>
          <a:p>
            <a:pPr algn="ctr" indent="0" marL="0">
              <a:lnSpc>
                <a:spcPts val="1680"/>
              </a:lnSpc>
              <a:buNone/>
            </a:pPr>
            <a:r>
              <a:rPr lang="en-US" sz="1200" b="1" dirty="0">
                <a:solidFill>
                  <a:srgbClr val="0F5A3F"/>
                </a:solidFill>
                <a:latin typeface="IBM Plex Sans" pitchFamily="34" charset="0"/>
                <a:ea typeface="IBM Plex Sans" pitchFamily="34" charset="-122"/>
                <a:cs typeface="IBM Plex Sans" pitchFamily="34" charset="-120"/>
              </a:rPr>
              <a:t>Funcional</a:t>
            </a:r>
            <a:endParaRPr lang="en-US" sz="1200" dirty="0"/>
          </a:p>
        </p:txBody>
      </p:sp>
      <p:sp>
        <p:nvSpPr>
          <p:cNvPr id="17" name="Text 12"/>
          <p:cNvSpPr/>
          <p:nvPr/>
        </p:nvSpPr>
        <p:spPr>
          <a:xfrm>
            <a:off x="8141494" y="2404110"/>
            <a:ext cx="31463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Prototipo web</a:t>
            </a:r>
            <a:endParaRPr lang="en-US" sz="1700" dirty="0"/>
          </a:p>
        </p:txBody>
      </p:sp>
      <p:sp>
        <p:nvSpPr>
          <p:cNvPr id="18" name="Text 13"/>
          <p:cNvSpPr/>
          <p:nvPr/>
        </p:nvSpPr>
        <p:spPr>
          <a:xfrm>
            <a:off x="8141494" y="2726690"/>
            <a:ext cx="314638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6260"/>
                </a:solidFill>
                <a:latin typeface="IBM Plex Sans" pitchFamily="34" charset="0"/>
                <a:ea typeface="IBM Plex Sans" pitchFamily="34" charset="-122"/>
                <a:cs typeface="IBM Plex Sans" pitchFamily="34" charset="-120"/>
              </a:rPr>
              <a:t>Interfaz y API en FastAPI con la simulación de riesgo.</a:t>
            </a:r>
            <a:endParaRPr lang="en-US" sz="1300" dirty="0"/>
          </a:p>
        </p:txBody>
      </p:sp>
      <p:sp>
        <p:nvSpPr>
          <p:cNvPr id="19" name="Shape 14"/>
          <p:cNvSpPr/>
          <p:nvPr/>
        </p:nvSpPr>
        <p:spPr>
          <a:xfrm>
            <a:off x="815975" y="3494405"/>
            <a:ext cx="3414157" cy="1464310"/>
          </a:xfrm>
          <a:prstGeom prst="roundRect">
            <a:avLst>
              <a:gd name="adj" fmla="val 8456"/>
            </a:avLst>
          </a:prstGeom>
          <a:solidFill>
            <a:srgbClr val="FAFBF7"/>
          </a:solidFill>
          <a:ln w="6350">
            <a:solidFill>
              <a:srgbClr val="D3DBD1"/>
            </a:solidFill>
            <a:prstDash val="solid"/>
          </a:ln>
        </p:spPr>
      </p:sp>
      <p:pic>
        <p:nvPicPr>
          <p:cNvPr id="20" name="Image 3" descr="Chart">    </p:cNvPr>
          <p:cNvPicPr>
            <a:picLocks noChangeAspect="1"/>
          </p:cNvPicPr>
          <p:nvPr/>
        </p:nvPicPr>
        <p:blipFill>
          <a:blip r:embed="rId4"/>
          <a:srcRect l="0" r="0" t="0" b="0"/>
          <a:stretch/>
        </p:blipFill>
        <p:spPr>
          <a:xfrm>
            <a:off x="995680" y="3691890"/>
            <a:ext cx="254000" cy="254000"/>
          </a:xfrm>
          <a:prstGeom prst="rect">
            <a:avLst/>
          </a:prstGeom>
        </p:spPr>
      </p:pic>
      <p:sp>
        <p:nvSpPr>
          <p:cNvPr id="21" name="Text 15"/>
          <p:cNvSpPr/>
          <p:nvPr/>
        </p:nvSpPr>
        <p:spPr>
          <a:xfrm>
            <a:off x="3215243" y="3674110"/>
            <a:ext cx="835184" cy="289560"/>
          </a:xfrm>
          <a:custGeom>
            <a:avLst/>
            <a:gdLst/>
            <a:ahLst/>
            <a:cxnLst/>
            <a:rect l="l" t="t" r="r" b="b"/>
            <a:pathLst>
              <a:path w="835184" h="289560">
                <a:moveTo>
                  <a:pt x="144780" y="0"/>
                </a:moveTo>
                <a:lnTo>
                  <a:pt x="690404" y="0"/>
                </a:lnTo>
                <a:arcTo hR="144780" wR="144780" stAng="16200000" swAng="5400000"/>
                <a:lnTo>
                  <a:pt x="835184" y="144780"/>
                </a:lnTo>
                <a:arcTo hR="144780" wR="144780" stAng="0" swAng="5400000"/>
                <a:lnTo>
                  <a:pt x="144780" y="289560"/>
                </a:lnTo>
                <a:arcTo hR="144780" wR="144780" stAng="5400000" swAng="5400000"/>
                <a:lnTo>
                  <a:pt x="0" y="144780"/>
                </a:lnTo>
                <a:arcTo hR="144780" wR="144780" stAng="10800000" swAng="5400000"/>
                <a:close/>
              </a:path>
            </a:pathLst>
          </a:custGeom>
          <a:solidFill>
            <a:srgbClr val="F6E7C1"/>
          </a:solidFill>
          <a:ln/>
        </p:spPr>
        <p:txBody>
          <a:bodyPr wrap="none" lIns="0" tIns="0" rIns="0" bIns="0" rtlCol="0" anchor="ctr">
            <a:normAutofit/>
          </a:bodyPr>
          <a:lstStyle/>
          <a:p>
            <a:pPr algn="ctr" indent="0" marL="0">
              <a:lnSpc>
                <a:spcPts val="1680"/>
              </a:lnSpc>
              <a:buNone/>
            </a:pPr>
            <a:r>
              <a:rPr lang="en-US" sz="1200" b="1" dirty="0">
                <a:solidFill>
                  <a:srgbClr val="7A4F00"/>
                </a:solidFill>
                <a:latin typeface="IBM Plex Sans" pitchFamily="34" charset="0"/>
                <a:ea typeface="IBM Plex Sans" pitchFamily="34" charset="-122"/>
                <a:cs typeface="IBM Plex Sans" pitchFamily="34" charset="-120"/>
              </a:rPr>
              <a:t>En curso</a:t>
            </a:r>
            <a:endParaRPr lang="en-US" sz="1200" dirty="0"/>
          </a:p>
        </p:txBody>
      </p:sp>
      <p:sp>
        <p:nvSpPr>
          <p:cNvPr id="22" name="Text 16"/>
          <p:cNvSpPr/>
          <p:nvPr/>
        </p:nvSpPr>
        <p:spPr>
          <a:xfrm>
            <a:off x="995680" y="4027170"/>
            <a:ext cx="31463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Modelo de ML</a:t>
            </a:r>
            <a:endParaRPr lang="en-US" sz="1700" dirty="0"/>
          </a:p>
        </p:txBody>
      </p:sp>
      <p:sp>
        <p:nvSpPr>
          <p:cNvPr id="23" name="Text 17"/>
          <p:cNvSpPr/>
          <p:nvPr/>
        </p:nvSpPr>
        <p:spPr>
          <a:xfrm>
            <a:off x="995680" y="4349750"/>
            <a:ext cx="314638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6260"/>
                </a:solidFill>
                <a:latin typeface="IBM Plex Sans" pitchFamily="34" charset="0"/>
                <a:ea typeface="IBM Plex Sans" pitchFamily="34" charset="-122"/>
                <a:cs typeface="IBM Plex Sans" pitchFamily="34" charset="-120"/>
              </a:rPr>
              <a:t>CRISP-DM con Scikit-Learn; hoy opera con reglas de scoring.</a:t>
            </a:r>
            <a:endParaRPr lang="en-US" sz="1300" dirty="0"/>
          </a:p>
        </p:txBody>
      </p:sp>
      <p:sp>
        <p:nvSpPr>
          <p:cNvPr id="24" name="Shape 18"/>
          <p:cNvSpPr/>
          <p:nvPr/>
        </p:nvSpPr>
        <p:spPr>
          <a:xfrm>
            <a:off x="4388882" y="3494405"/>
            <a:ext cx="3414157" cy="1464310"/>
          </a:xfrm>
          <a:prstGeom prst="roundRect">
            <a:avLst>
              <a:gd name="adj" fmla="val 8456"/>
            </a:avLst>
          </a:prstGeom>
          <a:solidFill>
            <a:srgbClr val="FAFBF7"/>
          </a:solidFill>
          <a:ln w="6350">
            <a:solidFill>
              <a:srgbClr val="D3DBD1"/>
            </a:solidFill>
            <a:prstDash val="solid"/>
          </a:ln>
        </p:spPr>
      </p:sp>
      <p:pic>
        <p:nvPicPr>
          <p:cNvPr id="25" name="Image 4" descr="Lock">    </p:cNvPr>
          <p:cNvPicPr>
            <a:picLocks noChangeAspect="1"/>
          </p:cNvPicPr>
          <p:nvPr/>
        </p:nvPicPr>
        <p:blipFill>
          <a:blip r:embed="rId5"/>
          <a:srcRect l="0" r="0" t="0" b="0"/>
          <a:stretch/>
        </p:blipFill>
        <p:spPr>
          <a:xfrm>
            <a:off x="4568587" y="3691890"/>
            <a:ext cx="254000" cy="254000"/>
          </a:xfrm>
          <a:prstGeom prst="rect">
            <a:avLst/>
          </a:prstGeom>
        </p:spPr>
      </p:pic>
      <p:sp>
        <p:nvSpPr>
          <p:cNvPr id="26" name="Text 19"/>
          <p:cNvSpPr/>
          <p:nvPr/>
        </p:nvSpPr>
        <p:spPr>
          <a:xfrm>
            <a:off x="6675993" y="3674110"/>
            <a:ext cx="947341" cy="289560"/>
          </a:xfrm>
          <a:custGeom>
            <a:avLst/>
            <a:gdLst/>
            <a:ahLst/>
            <a:cxnLst/>
            <a:rect l="l" t="t" r="r" b="b"/>
            <a:pathLst>
              <a:path w="947341" h="289560">
                <a:moveTo>
                  <a:pt x="144780" y="0"/>
                </a:moveTo>
                <a:lnTo>
                  <a:pt x="802561" y="0"/>
                </a:lnTo>
                <a:arcTo hR="144780" wR="144780" stAng="16200000" swAng="5400000"/>
                <a:lnTo>
                  <a:pt x="947341" y="144780"/>
                </a:lnTo>
                <a:arcTo hR="144780" wR="144780" stAng="0" swAng="5400000"/>
                <a:lnTo>
                  <a:pt x="144780" y="289560"/>
                </a:lnTo>
                <a:arcTo hR="144780" wR="144780" stAng="5400000" swAng="5400000"/>
                <a:lnTo>
                  <a:pt x="0" y="144780"/>
                </a:lnTo>
                <a:arcTo hR="144780" wR="144780" stAng="10800000" swAng="5400000"/>
                <a:close/>
              </a:path>
            </a:pathLst>
          </a:custGeom>
          <a:solidFill>
            <a:srgbClr val="DDE3DC"/>
          </a:solidFill>
          <a:ln/>
        </p:spPr>
        <p:txBody>
          <a:bodyPr wrap="none" lIns="0" tIns="0" rIns="0" bIns="0" rtlCol="0" anchor="ctr">
            <a:normAutofit/>
          </a:bodyPr>
          <a:lstStyle/>
          <a:p>
            <a:pPr algn="ctr" indent="0" marL="0">
              <a:lnSpc>
                <a:spcPts val="1680"/>
              </a:lnSpc>
              <a:buNone/>
            </a:pPr>
            <a:r>
              <a:rPr lang="en-US" sz="1200" b="1" dirty="0">
                <a:solidFill>
                  <a:srgbClr val="3F5553"/>
                </a:solidFill>
                <a:latin typeface="IBM Plex Sans" pitchFamily="34" charset="0"/>
                <a:ea typeface="IBM Plex Sans" pitchFamily="34" charset="-122"/>
                <a:cs typeface="IBM Plex Sans" pitchFamily="34" charset="-120"/>
              </a:rPr>
              <a:t>Pendiente</a:t>
            </a:r>
            <a:endParaRPr lang="en-US" sz="1200" dirty="0"/>
          </a:p>
        </p:txBody>
      </p:sp>
      <p:sp>
        <p:nvSpPr>
          <p:cNvPr id="27" name="Text 20"/>
          <p:cNvSpPr/>
          <p:nvPr/>
        </p:nvSpPr>
        <p:spPr>
          <a:xfrm>
            <a:off x="4568587" y="4027170"/>
            <a:ext cx="31463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React, JWT y Docker</a:t>
            </a:r>
            <a:endParaRPr lang="en-US" sz="1700" dirty="0"/>
          </a:p>
        </p:txBody>
      </p:sp>
      <p:sp>
        <p:nvSpPr>
          <p:cNvPr id="28" name="Text 21"/>
          <p:cNvSpPr/>
          <p:nvPr/>
        </p:nvSpPr>
        <p:spPr>
          <a:xfrm>
            <a:off x="4568587" y="4349750"/>
            <a:ext cx="314638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6260"/>
                </a:solidFill>
                <a:latin typeface="IBM Plex Sans" pitchFamily="34" charset="0"/>
                <a:ea typeface="IBM Plex Sans" pitchFamily="34" charset="-122"/>
                <a:cs typeface="IBM Plex Sans" pitchFamily="34" charset="-120"/>
              </a:rPr>
              <a:t>Registro, sesión, historial y despliegue en contenedores.</a:t>
            </a:r>
            <a:endParaRPr lang="en-US" sz="1300" dirty="0"/>
          </a:p>
        </p:txBody>
      </p:sp>
      <p:sp>
        <p:nvSpPr>
          <p:cNvPr id="29" name="Shape 22"/>
          <p:cNvSpPr/>
          <p:nvPr/>
        </p:nvSpPr>
        <p:spPr>
          <a:xfrm>
            <a:off x="7961789" y="3494405"/>
            <a:ext cx="3414157" cy="1464310"/>
          </a:xfrm>
          <a:prstGeom prst="roundRect">
            <a:avLst>
              <a:gd name="adj" fmla="val 8456"/>
            </a:avLst>
          </a:prstGeom>
          <a:solidFill>
            <a:srgbClr val="FAFBF7"/>
          </a:solidFill>
          <a:ln w="6350">
            <a:solidFill>
              <a:srgbClr val="D3DBD1"/>
            </a:solidFill>
            <a:prstDash val="solid"/>
          </a:ln>
        </p:spPr>
      </p:sp>
      <p:pic>
        <p:nvPicPr>
          <p:cNvPr id="30" name="Image 5" descr="Verified">    </p:cNvPr>
          <p:cNvPicPr>
            <a:picLocks noChangeAspect="1"/>
          </p:cNvPicPr>
          <p:nvPr/>
        </p:nvPicPr>
        <p:blipFill>
          <a:blip r:embed="rId6"/>
          <a:srcRect l="0" r="0" t="0" b="0"/>
          <a:stretch/>
        </p:blipFill>
        <p:spPr>
          <a:xfrm>
            <a:off x="8141494" y="3691890"/>
            <a:ext cx="254000" cy="254000"/>
          </a:xfrm>
          <a:prstGeom prst="rect">
            <a:avLst/>
          </a:prstGeom>
        </p:spPr>
      </p:pic>
      <p:sp>
        <p:nvSpPr>
          <p:cNvPr id="31" name="Text 23"/>
          <p:cNvSpPr/>
          <p:nvPr/>
        </p:nvSpPr>
        <p:spPr>
          <a:xfrm>
            <a:off x="10248900" y="3674110"/>
            <a:ext cx="947341" cy="289560"/>
          </a:xfrm>
          <a:custGeom>
            <a:avLst/>
            <a:gdLst/>
            <a:ahLst/>
            <a:cxnLst/>
            <a:rect l="l" t="t" r="r" b="b"/>
            <a:pathLst>
              <a:path w="947341" h="289560">
                <a:moveTo>
                  <a:pt x="144780" y="0"/>
                </a:moveTo>
                <a:lnTo>
                  <a:pt x="802561" y="0"/>
                </a:lnTo>
                <a:arcTo hR="144780" wR="144780" stAng="16200000" swAng="5400000"/>
                <a:lnTo>
                  <a:pt x="947341" y="144780"/>
                </a:lnTo>
                <a:arcTo hR="144780" wR="144780" stAng="0" swAng="5400000"/>
                <a:lnTo>
                  <a:pt x="144780" y="289560"/>
                </a:lnTo>
                <a:arcTo hR="144780" wR="144780" stAng="5400000" swAng="5400000"/>
                <a:lnTo>
                  <a:pt x="0" y="144780"/>
                </a:lnTo>
                <a:arcTo hR="144780" wR="144780" stAng="10800000" swAng="5400000"/>
                <a:close/>
              </a:path>
            </a:pathLst>
          </a:custGeom>
          <a:solidFill>
            <a:srgbClr val="DDE3DC"/>
          </a:solidFill>
          <a:ln/>
        </p:spPr>
        <p:txBody>
          <a:bodyPr wrap="none" lIns="0" tIns="0" rIns="0" bIns="0" rtlCol="0" anchor="ctr">
            <a:normAutofit/>
          </a:bodyPr>
          <a:lstStyle/>
          <a:p>
            <a:pPr algn="ctr" indent="0" marL="0">
              <a:lnSpc>
                <a:spcPts val="1680"/>
              </a:lnSpc>
              <a:buNone/>
            </a:pPr>
            <a:r>
              <a:rPr lang="en-US" sz="1200" b="1" dirty="0">
                <a:solidFill>
                  <a:srgbClr val="3F5553"/>
                </a:solidFill>
                <a:latin typeface="IBM Plex Sans" pitchFamily="34" charset="0"/>
                <a:ea typeface="IBM Plex Sans" pitchFamily="34" charset="-122"/>
                <a:cs typeface="IBM Plex Sans" pitchFamily="34" charset="-120"/>
              </a:rPr>
              <a:t>Pendiente</a:t>
            </a:r>
            <a:endParaRPr lang="en-US" sz="1200" dirty="0"/>
          </a:p>
        </p:txBody>
      </p:sp>
      <p:sp>
        <p:nvSpPr>
          <p:cNvPr id="32" name="Text 24"/>
          <p:cNvSpPr/>
          <p:nvPr/>
        </p:nvSpPr>
        <p:spPr>
          <a:xfrm>
            <a:off x="8141494" y="4027170"/>
            <a:ext cx="31463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Pruebas (QA)</a:t>
            </a:r>
            <a:endParaRPr lang="en-US" sz="1700" dirty="0"/>
          </a:p>
        </p:txBody>
      </p:sp>
      <p:sp>
        <p:nvSpPr>
          <p:cNvPr id="33" name="Text 25"/>
          <p:cNvSpPr/>
          <p:nvPr/>
        </p:nvSpPr>
        <p:spPr>
          <a:xfrm>
            <a:off x="8141494" y="4349750"/>
            <a:ext cx="314638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6260"/>
                </a:solidFill>
                <a:latin typeface="IBM Plex Sans" pitchFamily="34" charset="0"/>
                <a:ea typeface="IBM Plex Sans" pitchFamily="34" charset="-122"/>
                <a:cs typeface="IBM Plex Sans" pitchFamily="34" charset="-120"/>
              </a:rPr>
              <a:t>Unitarias, de integración, rendimiento y seguridad.</a:t>
            </a:r>
            <a:endParaRPr lang="en-US" sz="1300" dirty="0"/>
          </a:p>
        </p:txBody>
      </p:sp>
      <p:sp>
        <p:nvSpPr>
          <p:cNvPr id="34" name="Text 26"/>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35" name="Text 2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B2A"/>
                </a:solidFill>
                <a:latin typeface="EB Garamond" pitchFamily="18" charset="0"/>
                <a:ea typeface="EB Garamond" pitchFamily="18" charset="-122"/>
                <a:cs typeface="EB Garamond" pitchFamily="18" charset="-120"/>
              </a:rPr>
              <a:t>Ajustes a la propuesta</a:t>
            </a:r>
            <a:endParaRPr lang="en-US" sz="3600" dirty="0"/>
          </a:p>
        </p:txBody>
      </p:sp>
      <p:sp>
        <p:nvSpPr>
          <p:cNvPr id="3" name="Shape 1"/>
          <p:cNvSpPr/>
          <p:nvPr/>
        </p:nvSpPr>
        <p:spPr>
          <a:xfrm>
            <a:off x="812800" y="1569720"/>
            <a:ext cx="3386614" cy="2415540"/>
          </a:xfrm>
          <a:prstGeom prst="roundRect">
            <a:avLst>
              <a:gd name="adj" fmla="val 5258"/>
            </a:avLst>
          </a:prstGeom>
          <a:solidFill>
            <a:srgbClr val="0E2B2A"/>
          </a:solidFill>
          <a:ln/>
        </p:spPr>
      </p:sp>
      <p:pic>
        <p:nvPicPr>
          <p:cNvPr id="4" name="Image 0" descr="Settings">    </p:cNvPr>
          <p:cNvPicPr>
            <a:picLocks noChangeAspect="1"/>
          </p:cNvPicPr>
          <p:nvPr/>
        </p:nvPicPr>
        <p:blipFill>
          <a:blip r:embed="rId1"/>
          <a:srcRect l="0" r="0" t="0" b="0"/>
          <a:stretch/>
        </p:blipFill>
        <p:spPr>
          <a:xfrm>
            <a:off x="1066800" y="1836420"/>
            <a:ext cx="279400" cy="279400"/>
          </a:xfrm>
          <a:prstGeom prst="rect">
            <a:avLst/>
          </a:prstGeom>
        </p:spPr>
      </p:pic>
      <p:sp>
        <p:nvSpPr>
          <p:cNvPr id="5" name="Text 2"/>
          <p:cNvSpPr/>
          <p:nvPr/>
        </p:nvSpPr>
        <p:spPr>
          <a:xfrm>
            <a:off x="1447800" y="1823720"/>
            <a:ext cx="10526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EF1EA"/>
                </a:solidFill>
                <a:latin typeface="IBM Plex Sans" pitchFamily="34" charset="0"/>
                <a:ea typeface="IBM Plex Sans" pitchFamily="34" charset="-122"/>
                <a:cs typeface="IBM Plex Sans" pitchFamily="34" charset="-120"/>
              </a:rPr>
              <a:t>Ajustes</a:t>
            </a:r>
            <a:endParaRPr lang="en-US" sz="2000" dirty="0"/>
          </a:p>
        </p:txBody>
      </p:sp>
      <p:sp>
        <p:nvSpPr>
          <p:cNvPr id="6" name="Text 3"/>
          <p:cNvSpPr/>
          <p:nvPr/>
        </p:nvSpPr>
        <p:spPr>
          <a:xfrm>
            <a:off x="1145032" y="2280920"/>
            <a:ext cx="2879120" cy="146558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DCE8E4"/>
                </a:solidFill>
                <a:latin typeface="IBM Plex Sans" pitchFamily="34" charset="0"/>
                <a:ea typeface="IBM Plex Sans" pitchFamily="34" charset="-122"/>
                <a:cs typeface="IBM Plex Sans" pitchFamily="34" charset="-120"/>
              </a:rPr>
              <a:t>Frontend en React, con cliente y API desacoplados</a:t>
            </a:r>
            <a:endParaRPr lang="en-US" sz="1400" dirty="0"/>
          </a:p>
          <a:p>
            <a:pPr algn="l" marL="175768" indent="-175768">
              <a:lnSpc>
                <a:spcPts val="1890"/>
              </a:lnSpc>
              <a:buSzPct val="100000"/>
              <a:buChar char="•"/>
            </a:pPr>
            <a:r>
              <a:rPr lang="en-US" sz="1400" dirty="0">
                <a:solidFill>
                  <a:srgbClr val="DCE8E4"/>
                </a:solidFill>
                <a:latin typeface="IBM Plex Sans" pitchFamily="34" charset="0"/>
                <a:ea typeface="IBM Plex Sans" pitchFamily="34" charset="-122"/>
                <a:cs typeface="IBM Plex Sans" pitchFamily="34" charset="-120"/>
              </a:rPr>
              <a:t>Se suman registro, sesión con JWT e historial de simulaciones</a:t>
            </a:r>
            <a:endParaRPr lang="en-US" sz="1400" dirty="0"/>
          </a:p>
          <a:p>
            <a:pPr algn="l" marL="175768" indent="-175768">
              <a:lnSpc>
                <a:spcPts val="1890"/>
              </a:lnSpc>
              <a:buSzPct val="100000"/>
              <a:buChar char="•"/>
            </a:pPr>
            <a:r>
              <a:rPr lang="en-US" sz="1400" dirty="0">
                <a:solidFill>
                  <a:srgbClr val="DCE8E4"/>
                </a:solidFill>
                <a:latin typeface="IBM Plex Sans" pitchFamily="34" charset="0"/>
                <a:ea typeface="IBM Plex Sans" pitchFamily="34" charset="-122"/>
                <a:cs typeface="IBM Plex Sans" pitchFamily="34" charset="-120"/>
              </a:rPr>
              <a:t>Persistencia en SQL Server Express</a:t>
            </a:r>
            <a:endParaRPr lang="en-US" sz="1400" dirty="0"/>
          </a:p>
        </p:txBody>
      </p:sp>
      <p:sp>
        <p:nvSpPr>
          <p:cNvPr id="7" name="Shape 4"/>
          <p:cNvSpPr/>
          <p:nvPr/>
        </p:nvSpPr>
        <p:spPr>
          <a:xfrm>
            <a:off x="4405789" y="1572895"/>
            <a:ext cx="3380343" cy="2409190"/>
          </a:xfrm>
          <a:prstGeom prst="roundRect">
            <a:avLst>
              <a:gd name="adj" fmla="val 5140"/>
            </a:avLst>
          </a:prstGeom>
          <a:solidFill>
            <a:srgbClr val="FAFBF7"/>
          </a:solidFill>
          <a:ln w="6350">
            <a:solidFill>
              <a:srgbClr val="D3DBD1"/>
            </a:solidFill>
            <a:prstDash val="solid"/>
          </a:ln>
        </p:spPr>
      </p:sp>
      <p:pic>
        <p:nvPicPr>
          <p:cNvPr id="8" name="Image 1" descr="Warning">    </p:cNvPr>
          <p:cNvPicPr>
            <a:picLocks noChangeAspect="1"/>
          </p:cNvPicPr>
          <p:nvPr/>
        </p:nvPicPr>
        <p:blipFill>
          <a:blip r:embed="rId2"/>
          <a:srcRect l="0" r="0" t="0" b="0"/>
          <a:stretch/>
        </p:blipFill>
        <p:spPr>
          <a:xfrm>
            <a:off x="4661694" y="1841500"/>
            <a:ext cx="279400" cy="279400"/>
          </a:xfrm>
          <a:prstGeom prst="rect">
            <a:avLst/>
          </a:prstGeom>
        </p:spPr>
      </p:pic>
      <p:sp>
        <p:nvSpPr>
          <p:cNvPr id="9" name="Text 5"/>
          <p:cNvSpPr/>
          <p:nvPr/>
        </p:nvSpPr>
        <p:spPr>
          <a:xfrm>
            <a:off x="5042694" y="1828800"/>
            <a:ext cx="16968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2B2A"/>
                </a:solidFill>
                <a:latin typeface="IBM Plex Sans" pitchFamily="34" charset="0"/>
                <a:ea typeface="IBM Plex Sans" pitchFamily="34" charset="-122"/>
                <a:cs typeface="IBM Plex Sans" pitchFamily="34" charset="-120"/>
              </a:rPr>
              <a:t>Dificultades</a:t>
            </a:r>
            <a:endParaRPr lang="en-US" sz="2000" dirty="0"/>
          </a:p>
        </p:txBody>
      </p:sp>
      <p:sp>
        <p:nvSpPr>
          <p:cNvPr id="10" name="Text 6"/>
          <p:cNvSpPr/>
          <p:nvPr/>
        </p:nvSpPr>
        <p:spPr>
          <a:xfrm>
            <a:off x="4739926" y="2286000"/>
            <a:ext cx="2868737" cy="146558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2F4B49"/>
                </a:solidFill>
                <a:latin typeface="IBM Plex Sans" pitchFamily="34" charset="0"/>
                <a:ea typeface="IBM Plex Sans" pitchFamily="34" charset="-122"/>
                <a:cs typeface="IBM Plex Sans" pitchFamily="34" charset="-120"/>
              </a:rPr>
              <a:t>Combinar el desarrollo con el intercambio académico</a:t>
            </a:r>
            <a:endParaRPr lang="en-US" sz="1400" dirty="0"/>
          </a:p>
          <a:p>
            <a:pPr algn="l" marL="175768" indent="-175768">
              <a:lnSpc>
                <a:spcPts val="1890"/>
              </a:lnSpc>
              <a:buSzPct val="100000"/>
              <a:buChar char="•"/>
            </a:pPr>
            <a:r>
              <a:rPr lang="en-US" sz="1400" dirty="0">
                <a:solidFill>
                  <a:srgbClr val="2F4B49"/>
                </a:solidFill>
                <a:latin typeface="IBM Plex Sans" pitchFamily="34" charset="0"/>
                <a:ea typeface="IBM Plex Sans" pitchFamily="34" charset="-122"/>
                <a:cs typeface="IBM Plex Sans" pitchFamily="34" charset="-120"/>
              </a:rPr>
              <a:t>Limpieza de datos atípicos del dataset público</a:t>
            </a:r>
            <a:endParaRPr lang="en-US" sz="1400" dirty="0"/>
          </a:p>
          <a:p>
            <a:pPr algn="l" marL="175768" indent="-175768">
              <a:lnSpc>
                <a:spcPts val="1890"/>
              </a:lnSpc>
              <a:buSzPct val="100000"/>
              <a:buChar char="•"/>
            </a:pPr>
            <a:r>
              <a:rPr lang="en-US" sz="1400" dirty="0">
                <a:solidFill>
                  <a:srgbClr val="2F4B49"/>
                </a:solidFill>
                <a:latin typeface="IBM Plex Sans" pitchFamily="34" charset="0"/>
                <a:ea typeface="IBM Plex Sans" pitchFamily="34" charset="-122"/>
                <a:cs typeface="IBM Plex Sans" pitchFamily="34" charset="-120"/>
              </a:rPr>
              <a:t>Integrar la respuesta del modelo en tiempo real</a:t>
            </a:r>
            <a:endParaRPr lang="en-US" sz="1400" dirty="0"/>
          </a:p>
        </p:txBody>
      </p:sp>
      <p:sp>
        <p:nvSpPr>
          <p:cNvPr id="11" name="Shape 7"/>
          <p:cNvSpPr/>
          <p:nvPr/>
        </p:nvSpPr>
        <p:spPr>
          <a:xfrm>
            <a:off x="7995682" y="1572895"/>
            <a:ext cx="3380343" cy="2409190"/>
          </a:xfrm>
          <a:prstGeom prst="roundRect">
            <a:avLst>
              <a:gd name="adj" fmla="val 5140"/>
            </a:avLst>
          </a:prstGeom>
          <a:solidFill>
            <a:srgbClr val="FAFBF7"/>
          </a:solidFill>
          <a:ln w="6350">
            <a:solidFill>
              <a:srgbClr val="D3DBD1"/>
            </a:solidFill>
            <a:prstDash val="solid"/>
          </a:ln>
        </p:spPr>
      </p:sp>
      <p:pic>
        <p:nvPicPr>
          <p:cNvPr id="12" name="Image 2" descr="ThumbsUp">    </p:cNvPr>
          <p:cNvPicPr>
            <a:picLocks noChangeAspect="1"/>
          </p:cNvPicPr>
          <p:nvPr/>
        </p:nvPicPr>
        <p:blipFill>
          <a:blip r:embed="rId3"/>
          <a:srcRect l="0" r="0" t="0" b="0"/>
          <a:stretch/>
        </p:blipFill>
        <p:spPr>
          <a:xfrm>
            <a:off x="8251587" y="1841500"/>
            <a:ext cx="279400" cy="279400"/>
          </a:xfrm>
          <a:prstGeom prst="rect">
            <a:avLst/>
          </a:prstGeom>
        </p:spPr>
      </p:pic>
      <p:sp>
        <p:nvSpPr>
          <p:cNvPr id="13" name="Text 8"/>
          <p:cNvSpPr/>
          <p:nvPr/>
        </p:nvSpPr>
        <p:spPr>
          <a:xfrm>
            <a:off x="8632587" y="1828800"/>
            <a:ext cx="18269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2B2A"/>
                </a:solidFill>
                <a:latin typeface="IBM Plex Sans" pitchFamily="34" charset="0"/>
                <a:ea typeface="IBM Plex Sans" pitchFamily="34" charset="-122"/>
                <a:cs typeface="IBM Plex Sans" pitchFamily="34" charset="-120"/>
              </a:rPr>
              <a:t>Facilitadores</a:t>
            </a:r>
            <a:endParaRPr lang="en-US" sz="2000" dirty="0"/>
          </a:p>
        </p:txBody>
      </p:sp>
      <p:sp>
        <p:nvSpPr>
          <p:cNvPr id="14" name="Text 9"/>
          <p:cNvSpPr/>
          <p:nvPr/>
        </p:nvSpPr>
        <p:spPr>
          <a:xfrm>
            <a:off x="8329819" y="2286000"/>
            <a:ext cx="2868737" cy="146558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2F4B49"/>
                </a:solidFill>
                <a:latin typeface="IBM Plex Sans" pitchFamily="34" charset="0"/>
                <a:ea typeface="IBM Plex Sans" pitchFamily="34" charset="-122"/>
                <a:cs typeface="IBM Plex Sans" pitchFamily="34" charset="-120"/>
              </a:rPr>
              <a:t>Cascada: cada etapa deja evidencia documentada</a:t>
            </a:r>
            <a:endParaRPr lang="en-US" sz="1400" dirty="0"/>
          </a:p>
          <a:p>
            <a:pPr algn="l" marL="175768" indent="-175768">
              <a:lnSpc>
                <a:spcPts val="1890"/>
              </a:lnSpc>
              <a:buSzPct val="100000"/>
              <a:buChar char="•"/>
            </a:pPr>
            <a:r>
              <a:rPr lang="en-US" sz="1400" dirty="0">
                <a:solidFill>
                  <a:srgbClr val="2F4B49"/>
                </a:solidFill>
                <a:latin typeface="IBM Plex Sans" pitchFamily="34" charset="0"/>
                <a:ea typeface="IBM Plex Sans" pitchFamily="34" charset="-122"/>
                <a:cs typeface="IBM Plex Sans" pitchFamily="34" charset="-120"/>
              </a:rPr>
              <a:t>Datasets públicos de Kaggle, sin datos reales</a:t>
            </a:r>
            <a:endParaRPr lang="en-US" sz="1400" dirty="0"/>
          </a:p>
          <a:p>
            <a:pPr algn="l" marL="175768" indent="-175768">
              <a:lnSpc>
                <a:spcPts val="1890"/>
              </a:lnSpc>
              <a:buSzPct val="100000"/>
              <a:buChar char="•"/>
            </a:pPr>
            <a:r>
              <a:rPr lang="en-US" sz="1400" dirty="0">
                <a:solidFill>
                  <a:srgbClr val="2F4B49"/>
                </a:solidFill>
                <a:latin typeface="IBM Plex Sans" pitchFamily="34" charset="0"/>
                <a:ea typeface="IBM Plex Sans" pitchFamily="34" charset="-122"/>
                <a:cs typeface="IBM Plex Sans" pitchFamily="34" charset="-120"/>
              </a:rPr>
              <a:t>API reutilizable por una futura app móvil</a:t>
            </a:r>
            <a:endParaRPr lang="en-US" sz="1400" dirty="0"/>
          </a:p>
        </p:txBody>
      </p:sp>
      <p:sp>
        <p:nvSpPr>
          <p:cNvPr id="15" name="Text 10"/>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16" name="Text 11"/>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B2A"/>
                </a:solidFill>
                <a:latin typeface="EB Garamond" pitchFamily="18" charset="0"/>
                <a:ea typeface="EB Garamond" pitchFamily="18" charset="-122"/>
                <a:cs typeface="EB Garamond" pitchFamily="18" charset="-120"/>
              </a:rPr>
              <a:t>Monitoreo del plan de trabajo</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9080"/>
          <a:ext cx="10556240" cy="1981200"/>
        </p:xfrm>
        <a:graphic>
          <a:graphicData uri="http://schemas.openxmlformats.org/drawingml/2006/table">
            <a:tbl>
              <a:tblPr/>
              <a:tblGrid>
                <a:gridCol w="3166872"/>
                <a:gridCol w="1583436"/>
                <a:gridCol w="1794561"/>
                <a:gridCol w="4011371"/>
              </a:tblGrid>
              <a:tr h="330200">
                <a:tc>
                  <a:txBody>
                    <a:bodyPr/>
                    <a:lstStyle/>
                    <a:p>
                      <a:pPr indent="0" marL="0">
                        <a:lnSpc>
                          <a:spcPts val="1680"/>
                        </a:lnSpc>
                        <a:buNone/>
                      </a:pPr>
                      <a:r>
                        <a:rPr lang="en-US" sz="1200" b="1" dirty="0">
                          <a:solidFill>
                            <a:srgbClr val="EEF1EA"/>
                          </a:solidFill>
                          <a:latin typeface="IBM Plex Sans" pitchFamily="34" charset="0"/>
                          <a:ea typeface="IBM Plex Sans" pitchFamily="34" charset="-122"/>
                          <a:cs typeface="IBM Plex Sans" pitchFamily="34" charset="-120"/>
                        </a:rPr>
                        <a:t>Actividad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0F262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0F2625"/>
                      </a:solidFill>
                      <a:prstDash val="solid"/>
                      <a:round/>
                      <a:headEnd type="none" w="med" len="med"/>
                      <a:tailEnd type="none" w="med" len="med"/>
                    </a:lnB>
                    <a:solidFill>
                      <a:srgbClr val="0E2B2A"/>
                    </a:solidFill>
                  </a:tcPr>
                </a:tc>
                <a:tc>
                  <a:txBody>
                    <a:bodyPr/>
                    <a:lstStyle/>
                    <a:p>
                      <a:pPr indent="0" marL="0">
                        <a:lnSpc>
                          <a:spcPts val="1680"/>
                        </a:lnSpc>
                        <a:buNone/>
                      </a:pPr>
                      <a:r>
                        <a:rPr lang="en-US" sz="1200" b="1" dirty="0">
                          <a:solidFill>
                            <a:srgbClr val="EEF1EA"/>
                          </a:solidFill>
                          <a:latin typeface="IBM Plex Sans" pitchFamily="34" charset="0"/>
                          <a:ea typeface="IBM Plex Sans" pitchFamily="34" charset="-122"/>
                          <a:cs typeface="IBM Plex Sans" pitchFamily="34" charset="-120"/>
                        </a:rPr>
                        <a:t>Duración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625"/>
                      </a:solidFill>
                      <a:prstDash val="solid"/>
                      <a:round/>
                      <a:headEnd type="none" w="med" len="med"/>
                      <a:tailEnd type="none" w="med" len="med"/>
                    </a:lnL>
                    <a:lnR w="12700" cap="flat" cmpd="sng" algn="ctr">
                      <a:solidFill>
                        <a:srgbClr val="0F262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0F2625"/>
                      </a:solidFill>
                      <a:prstDash val="solid"/>
                      <a:round/>
                      <a:headEnd type="none" w="med" len="med"/>
                      <a:tailEnd type="none" w="med" len="med"/>
                    </a:lnB>
                    <a:solidFill>
                      <a:srgbClr val="0E2B2A"/>
                    </a:solidFill>
                  </a:tcPr>
                </a:tc>
                <a:tc>
                  <a:txBody>
                    <a:bodyPr/>
                    <a:lstStyle/>
                    <a:p>
                      <a:pPr indent="0" marL="0">
                        <a:lnSpc>
                          <a:spcPts val="1680"/>
                        </a:lnSpc>
                        <a:buNone/>
                      </a:pPr>
                      <a:r>
                        <a:rPr lang="en-US" sz="1200" b="1" dirty="0">
                          <a:solidFill>
                            <a:srgbClr val="EEF1EA"/>
                          </a:solidFill>
                          <a:latin typeface="IBM Plex Sans" pitchFamily="34" charset="0"/>
                          <a:ea typeface="IBM Plex Sans" pitchFamily="34" charset="-122"/>
                          <a:cs typeface="IBM Plex Sans" pitchFamily="34" charset="-120"/>
                        </a:rPr>
                        <a:t>Estado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625"/>
                      </a:solidFill>
                      <a:prstDash val="solid"/>
                      <a:round/>
                      <a:headEnd type="none" w="med" len="med"/>
                      <a:tailEnd type="none" w="med" len="med"/>
                    </a:lnL>
                    <a:lnR w="12700" cap="flat" cmpd="sng" algn="ctr">
                      <a:solidFill>
                        <a:srgbClr val="0F262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0F2625"/>
                      </a:solidFill>
                      <a:prstDash val="solid"/>
                      <a:round/>
                      <a:headEnd type="none" w="med" len="med"/>
                      <a:tailEnd type="none" w="med" len="med"/>
                    </a:lnB>
                    <a:solidFill>
                      <a:srgbClr val="0E2B2A"/>
                    </a:solidFill>
                  </a:tcPr>
                </a:tc>
                <a:tc>
                  <a:txBody>
                    <a:bodyPr/>
                    <a:lstStyle/>
                    <a:p>
                      <a:pPr indent="0" marL="0">
                        <a:lnSpc>
                          <a:spcPts val="1680"/>
                        </a:lnSpc>
                        <a:buNone/>
                      </a:pPr>
                      <a:r>
                        <a:rPr lang="en-US" sz="1200" b="1" dirty="0">
                          <a:solidFill>
                            <a:srgbClr val="EEF1EA"/>
                          </a:solidFill>
                          <a:latin typeface="IBM Plex Sans" pitchFamily="34" charset="0"/>
                          <a:ea typeface="IBM Plex Sans" pitchFamily="34" charset="-122"/>
                          <a:cs typeface="IBM Plex Sans" pitchFamily="34" charset="-120"/>
                        </a:rPr>
                        <a:t>Evidencia a la fecha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625"/>
                      </a:solidFill>
                      <a:prstDash val="solid"/>
                      <a:round/>
                      <a:headEnd type="none" w="med" len="med"/>
                      <a:tailEnd type="none" w="med" len="med"/>
                    </a:lnL>
                    <a:lnR w="12700" cap="flat" cmpd="sng" algn="ctr">
                      <a:solidFill>
                        <a:srgbClr val="0F262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0F2625"/>
                      </a:solidFill>
                      <a:prstDash val="solid"/>
                      <a:round/>
                      <a:headEnd type="none" w="med" len="med"/>
                      <a:tailEnd type="none" w="med" len="med"/>
                    </a:lnB>
                    <a:solidFill>
                      <a:srgbClr val="0E2B2A"/>
                    </a:solidFill>
                  </a:tcPr>
                </a:tc>
              </a:tr>
              <a:tr h="330200">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Diseño de arquitectura y base de datos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0F2625"/>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3 semanas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0F2625"/>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Completado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0F2625"/>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SRS, diseño, UML y script SQL ejecutado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0F2625"/>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r>
              <a:tr h="330200">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Desarrollo de API y frontend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4 semanas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En curso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Prototipo funcional; migración a React pendiente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r>
              <a:tr h="330200">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Entrenamiento del modelo ML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3 semanas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En curso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Reglas de scoring activas; modelo por entrenar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r>
              <a:tr h="330200">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Plan de pruebas (QA)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2 semanas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Pendiente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Unitarias, integración y seguridad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C7C8C5"/>
                      </a:solidFill>
                      <a:prstDash val="solid"/>
                      <a:round/>
                      <a:headEnd type="none" w="med" len="med"/>
                      <a:tailEnd type="none" w="med" len="med"/>
                    </a:lnT>
                    <a:lnB w="12700" cap="flat" cmpd="sng" algn="ctr">
                      <a:solidFill>
                        <a:srgbClr val="BEC0BB"/>
                      </a:solidFill>
                      <a:prstDash val="solid"/>
                      <a:round/>
                      <a:headEnd type="none" w="med" len="med"/>
                      <a:tailEnd type="none" w="med" len="med"/>
                    </a:lnB>
                    <a:solidFill>
                      <a:srgbClr val="EEF1EA"/>
                    </a:solidFill>
                  </a:tcPr>
                </a:tc>
              </a:tr>
              <a:tr h="330200">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Despliegue con Docker Compose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BB"/>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Etapa final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Pendiente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c>
                  <a:txBody>
                    <a:bodyPr/>
                    <a:lstStyle/>
                    <a:p>
                      <a:pPr indent="0" marL="0">
                        <a:lnSpc>
                          <a:spcPts val="1680"/>
                        </a:lnSpc>
                        <a:buNone/>
                      </a:pPr>
                      <a:r>
                        <a:rPr lang="en-US" sz="1200" dirty="0">
                          <a:solidFill>
                            <a:srgbClr val="12302E"/>
                          </a:solidFill>
                          <a:latin typeface="IBM Plex Sans" pitchFamily="34" charset="0"/>
                          <a:ea typeface="IBM Plex Sans" pitchFamily="34" charset="-122"/>
                          <a:cs typeface="IBM Plex Sans" pitchFamily="34" charset="-120"/>
                        </a:rPr>
                        <a:t>Dockerfile y docker-compose.yml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8C5"/>
                      </a:solidFill>
                      <a:prstDash val="solid"/>
                      <a:round/>
                      <a:headEnd type="none" w="med" len="med"/>
                      <a:tailEnd type="none" w="med" len="med"/>
                    </a:lnL>
                    <a:lnR w="12700" cap="flat" cmpd="sng" algn="ctr">
                      <a:solidFill>
                        <a:srgbClr val="C7C8C5"/>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C7C8C5"/>
                      </a:solidFill>
                      <a:prstDash val="solid"/>
                      <a:round/>
                      <a:headEnd type="none" w="med" len="med"/>
                      <a:tailEnd type="none" w="med" len="med"/>
                    </a:lnB>
                    <a:solidFill>
                      <a:srgbClr val="FAFBF7"/>
                    </a:solidFill>
                  </a:tcPr>
                </a:tc>
              </a:tr>
            </a:tbl>
          </a:graphicData>
        </a:graphic>
      </p:graphicFrame>
      <p:pic>
        <p:nvPicPr>
          <p:cNvPr id="4" name="Image 0" descr="CheckCircle">    </p:cNvPr>
          <p:cNvPicPr>
            <a:picLocks noChangeAspect="1"/>
          </p:cNvPicPr>
          <p:nvPr/>
        </p:nvPicPr>
        <p:blipFill>
          <a:blip r:embed="rId1"/>
          <a:srcRect l="0" r="0" t="0" b="0"/>
          <a:stretch/>
        </p:blipFill>
        <p:spPr>
          <a:xfrm>
            <a:off x="812800" y="3713480"/>
            <a:ext cx="279400" cy="279400"/>
          </a:xfrm>
          <a:prstGeom prst="rect">
            <a:avLst/>
          </a:prstGeom>
        </p:spPr>
      </p:pic>
      <p:sp>
        <p:nvSpPr>
          <p:cNvPr id="5" name="Text 1"/>
          <p:cNvSpPr/>
          <p:nvPr/>
        </p:nvSpPr>
        <p:spPr>
          <a:xfrm>
            <a:off x="1219200" y="3737611"/>
            <a:ext cx="9098947"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2302E"/>
                </a:solidFill>
                <a:latin typeface="IBM Plex Sans" pitchFamily="34" charset="0"/>
                <a:ea typeface="IBM Plex Sans" pitchFamily="34" charset="-122"/>
                <a:cs typeface="IBM Plex Sans" pitchFamily="34" charset="-120"/>
              </a:rPr>
              <a:t>Hito de avance:</a:t>
            </a:r>
            <a:r>
              <a:rPr lang="en-US" sz="1400" dirty="0">
                <a:solidFill>
                  <a:srgbClr val="12302E"/>
                </a:solidFill>
                <a:latin typeface="IBM Plex Sans" pitchFamily="34" charset="0"/>
                <a:ea typeface="IBM Plex Sans" pitchFamily="34" charset="-122"/>
                <a:cs typeface="IBM Plex Sans" pitchFamily="34" charset="-120"/>
              </a:rPr>
              <a:t> repositorio público con README, diagramas UML y modelo de datos relacional.</a:t>
            </a:r>
            <a:endParaRPr lang="en-US" sz="1400" dirty="0"/>
          </a:p>
        </p:txBody>
      </p:sp>
      <p:sp>
        <p:nvSpPr>
          <p:cNvPr id="6" name="Text 2"/>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7"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B2A"/>
                </a:solidFill>
                <a:latin typeface="EB Garamond" pitchFamily="18" charset="0"/>
                <a:ea typeface="EB Garamond" pitchFamily="18" charset="-122"/>
                <a:cs typeface="EB Garamond" pitchFamily="18" charset="-120"/>
              </a:rPr>
              <a:t>Arquitectura de la solución</a:t>
            </a:r>
            <a:endParaRPr lang="en-US" sz="3600" dirty="0"/>
          </a:p>
        </p:txBody>
      </p:sp>
      <p:sp>
        <p:nvSpPr>
          <p:cNvPr id="3" name="Shape 1"/>
          <p:cNvSpPr/>
          <p:nvPr/>
        </p:nvSpPr>
        <p:spPr>
          <a:xfrm>
            <a:off x="815975" y="1572896"/>
            <a:ext cx="2914650" cy="1782445"/>
          </a:xfrm>
          <a:prstGeom prst="roundRect">
            <a:avLst>
              <a:gd name="adj" fmla="val 6947"/>
            </a:avLst>
          </a:prstGeom>
          <a:solidFill>
            <a:srgbClr val="FAFBF7"/>
          </a:solidFill>
          <a:ln w="6350">
            <a:solidFill>
              <a:srgbClr val="D3DBD1"/>
            </a:solidFill>
            <a:prstDash val="solid"/>
          </a:ln>
        </p:spPr>
      </p:sp>
      <p:pic>
        <p:nvPicPr>
          <p:cNvPr id="4" name="Image 0" descr="Globe">    </p:cNvPr>
          <p:cNvPicPr>
            <a:picLocks noChangeAspect="1"/>
          </p:cNvPicPr>
          <p:nvPr/>
        </p:nvPicPr>
        <p:blipFill>
          <a:blip r:embed="rId1"/>
          <a:srcRect l="0" r="0" t="0" b="0"/>
          <a:stretch/>
        </p:blipFill>
        <p:spPr>
          <a:xfrm>
            <a:off x="1021080" y="1780539"/>
            <a:ext cx="254000" cy="254000"/>
          </a:xfrm>
          <a:prstGeom prst="rect">
            <a:avLst/>
          </a:prstGeom>
        </p:spPr>
      </p:pic>
      <p:sp>
        <p:nvSpPr>
          <p:cNvPr id="5" name="Text 2"/>
          <p:cNvSpPr/>
          <p:nvPr/>
        </p:nvSpPr>
        <p:spPr>
          <a:xfrm>
            <a:off x="1363980" y="1778000"/>
            <a:ext cx="108947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Frontend</a:t>
            </a:r>
            <a:endParaRPr lang="en-US" sz="1700" dirty="0"/>
          </a:p>
        </p:txBody>
      </p:sp>
      <p:sp>
        <p:nvSpPr>
          <p:cNvPr id="6" name="Text 3"/>
          <p:cNvSpPr/>
          <p:nvPr/>
        </p:nvSpPr>
        <p:spPr>
          <a:xfrm>
            <a:off x="1021080" y="2125982"/>
            <a:ext cx="257957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6B4C"/>
                </a:solidFill>
                <a:latin typeface="IBM Plex Sans" pitchFamily="34" charset="0"/>
                <a:ea typeface="IBM Plex Sans" pitchFamily="34" charset="-122"/>
                <a:cs typeface="IBM Plex Sans" pitchFamily="34" charset="-120"/>
              </a:rPr>
              <a:t>React (SPA)</a:t>
            </a:r>
            <a:endParaRPr lang="en-US" sz="1500" dirty="0"/>
          </a:p>
        </p:txBody>
      </p:sp>
      <p:sp>
        <p:nvSpPr>
          <p:cNvPr id="7" name="Text 4"/>
          <p:cNvSpPr/>
          <p:nvPr/>
        </p:nvSpPr>
        <p:spPr>
          <a:xfrm>
            <a:off x="1106424" y="2481582"/>
            <a:ext cx="2486609" cy="694055"/>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dirty="0">
                <a:solidFill>
                  <a:srgbClr val="2F4B49"/>
                </a:solidFill>
                <a:latin typeface="IBM Plex Sans" pitchFamily="34" charset="0"/>
                <a:ea typeface="IBM Plex Sans" pitchFamily="34" charset="-122"/>
                <a:cs typeface="IBM Plex Sans" pitchFamily="34" charset="-120"/>
              </a:rPr>
              <a:t>Registro e inicio de sesión</a:t>
            </a:r>
            <a:endParaRPr lang="en-US" sz="1300" dirty="0"/>
          </a:p>
          <a:p>
            <a:pPr algn="l" marL="168656" indent="-168656">
              <a:lnSpc>
                <a:spcPts val="1755"/>
              </a:lnSpc>
              <a:buSzPct val="100000"/>
              <a:buChar char="•"/>
            </a:pPr>
            <a:r>
              <a:rPr lang="en-US" sz="1300" dirty="0">
                <a:solidFill>
                  <a:srgbClr val="2F4B49"/>
                </a:solidFill>
                <a:latin typeface="IBM Plex Sans" pitchFamily="34" charset="0"/>
                <a:ea typeface="IBM Plex Sans" pitchFamily="34" charset="-122"/>
                <a:cs typeface="IBM Plex Sans" pitchFamily="34" charset="-120"/>
              </a:rPr>
              <a:t>Simulador y resultados</a:t>
            </a:r>
            <a:endParaRPr lang="en-US" sz="1300" dirty="0"/>
          </a:p>
          <a:p>
            <a:pPr algn="l" marL="168656" indent="-168656">
              <a:lnSpc>
                <a:spcPts val="1755"/>
              </a:lnSpc>
              <a:buSzPct val="100000"/>
              <a:buChar char="•"/>
            </a:pPr>
            <a:r>
              <a:rPr lang="en-US" sz="1300" dirty="0">
                <a:solidFill>
                  <a:srgbClr val="2F4B49"/>
                </a:solidFill>
                <a:latin typeface="IBM Plex Sans" pitchFamily="34" charset="0"/>
                <a:ea typeface="IBM Plex Sans" pitchFamily="34" charset="-122"/>
                <a:cs typeface="IBM Plex Sans" pitchFamily="34" charset="-120"/>
              </a:rPr>
              <a:t>Historial y educación</a:t>
            </a:r>
            <a:endParaRPr lang="en-US" sz="1300" dirty="0"/>
          </a:p>
        </p:txBody>
      </p:sp>
      <p:sp>
        <p:nvSpPr>
          <p:cNvPr id="8" name="Text 5"/>
          <p:cNvSpPr/>
          <p:nvPr/>
        </p:nvSpPr>
        <p:spPr>
          <a:xfrm>
            <a:off x="3951605" y="2079309"/>
            <a:ext cx="529590" cy="452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6B4C"/>
                </a:solidFill>
                <a:latin typeface="IBM Plex Sans" pitchFamily="34" charset="0"/>
                <a:ea typeface="IBM Plex Sans" pitchFamily="34" charset="-122"/>
                <a:cs typeface="IBM Plex Sans" pitchFamily="34" charset="-120"/>
              </a:rPr>
              <a:t>HTTPS</a:t>
            </a:r>
            <a:endParaRPr lang="en-US" sz="1200" dirty="0"/>
          </a:p>
          <a:p>
            <a:pPr algn="ctr" indent="0" marL="0">
              <a:lnSpc>
                <a:spcPts val="1680"/>
              </a:lnSpc>
              <a:buNone/>
            </a:pPr>
            <a:r>
              <a:rPr lang="en-US" sz="1200" b="1" dirty="0">
                <a:solidFill>
                  <a:srgbClr val="146B4C"/>
                </a:solidFill>
                <a:latin typeface="IBM Plex Sans" pitchFamily="34" charset="0"/>
                <a:ea typeface="IBM Plex Sans" pitchFamily="34" charset="-122"/>
                <a:cs typeface="IBM Plex Sans" pitchFamily="34" charset="-120"/>
              </a:rPr>
              <a:t>JSON</a:t>
            </a:r>
            <a:endParaRPr lang="en-US" sz="1200" dirty="0"/>
          </a:p>
        </p:txBody>
      </p:sp>
      <p:pic>
        <p:nvPicPr>
          <p:cNvPr id="9" name="Image 1" descr="arrow-right">    </p:cNvPr>
          <p:cNvPicPr>
            <a:picLocks noChangeAspect="1"/>
          </p:cNvPicPr>
          <p:nvPr/>
        </p:nvPicPr>
        <p:blipFill>
          <a:blip r:embed="rId2"/>
          <a:srcRect l="0" r="0" t="0" b="0"/>
          <a:stretch/>
        </p:blipFill>
        <p:spPr>
          <a:xfrm>
            <a:off x="3898900" y="2569527"/>
            <a:ext cx="635000" cy="279400"/>
          </a:xfrm>
          <a:prstGeom prst="rect">
            <a:avLst/>
          </a:prstGeom>
        </p:spPr>
      </p:pic>
      <p:sp>
        <p:nvSpPr>
          <p:cNvPr id="10" name="Shape 6"/>
          <p:cNvSpPr/>
          <p:nvPr/>
        </p:nvSpPr>
        <p:spPr>
          <a:xfrm>
            <a:off x="4699000" y="1569721"/>
            <a:ext cx="3302000" cy="1788795"/>
          </a:xfrm>
          <a:prstGeom prst="roundRect">
            <a:avLst>
              <a:gd name="adj" fmla="val 7100"/>
            </a:avLst>
          </a:prstGeom>
          <a:solidFill>
            <a:srgbClr val="0E2B2A"/>
          </a:solidFill>
          <a:ln/>
        </p:spPr>
      </p:sp>
      <p:pic>
        <p:nvPicPr>
          <p:cNvPr id="11" name="Image 2" descr="Settings">    </p:cNvPr>
          <p:cNvPicPr>
            <a:picLocks noChangeAspect="1"/>
          </p:cNvPicPr>
          <p:nvPr/>
        </p:nvPicPr>
        <p:blipFill>
          <a:blip r:embed="rId3"/>
          <a:srcRect l="0" r="0" t="0" b="0"/>
          <a:stretch/>
        </p:blipFill>
        <p:spPr>
          <a:xfrm>
            <a:off x="4902200" y="1775461"/>
            <a:ext cx="254000" cy="254000"/>
          </a:xfrm>
          <a:prstGeom prst="rect">
            <a:avLst/>
          </a:prstGeom>
        </p:spPr>
      </p:pic>
      <p:sp>
        <p:nvSpPr>
          <p:cNvPr id="12" name="Text 7"/>
          <p:cNvSpPr/>
          <p:nvPr/>
        </p:nvSpPr>
        <p:spPr>
          <a:xfrm>
            <a:off x="5245100" y="1772921"/>
            <a:ext cx="104127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A"/>
                </a:solidFill>
                <a:latin typeface="IBM Plex Sans" pitchFamily="34" charset="0"/>
                <a:ea typeface="IBM Plex Sans" pitchFamily="34" charset="-122"/>
                <a:cs typeface="IBM Plex Sans" pitchFamily="34" charset="-120"/>
              </a:rPr>
              <a:t>Backend</a:t>
            </a:r>
            <a:endParaRPr lang="en-US" sz="1700" dirty="0"/>
          </a:p>
        </p:txBody>
      </p:sp>
      <p:sp>
        <p:nvSpPr>
          <p:cNvPr id="13" name="Text 8"/>
          <p:cNvSpPr/>
          <p:nvPr/>
        </p:nvSpPr>
        <p:spPr>
          <a:xfrm>
            <a:off x="4902200" y="2120900"/>
            <a:ext cx="29824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FD3A3"/>
                </a:solidFill>
                <a:latin typeface="IBM Plex Sans" pitchFamily="34" charset="0"/>
                <a:ea typeface="IBM Plex Sans" pitchFamily="34" charset="-122"/>
                <a:cs typeface="IBM Plex Sans" pitchFamily="34" charset="-120"/>
              </a:rPr>
              <a:t>API REST con FastAPI</a:t>
            </a:r>
            <a:endParaRPr lang="en-US" sz="1500" dirty="0"/>
          </a:p>
        </p:txBody>
      </p:sp>
      <p:sp>
        <p:nvSpPr>
          <p:cNvPr id="14" name="Text 9"/>
          <p:cNvSpPr/>
          <p:nvPr/>
        </p:nvSpPr>
        <p:spPr>
          <a:xfrm>
            <a:off x="4987544" y="2476500"/>
            <a:ext cx="2889504" cy="694055"/>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dirty="0">
                <a:solidFill>
                  <a:srgbClr val="DCE8E4"/>
                </a:solidFill>
                <a:latin typeface="IBM Plex Sans" pitchFamily="34" charset="0"/>
                <a:ea typeface="IBM Plex Sans" pitchFamily="34" charset="-122"/>
                <a:cs typeface="IBM Plex Sans" pitchFamily="34" charset="-120"/>
              </a:rPr>
              <a:t>Autenticación con tokens JWT</a:t>
            </a:r>
            <a:endParaRPr lang="en-US" sz="1300" dirty="0"/>
          </a:p>
          <a:p>
            <a:pPr algn="l" marL="168656" indent="-168656">
              <a:lnSpc>
                <a:spcPts val="1755"/>
              </a:lnSpc>
              <a:buSzPct val="100000"/>
              <a:buChar char="•"/>
            </a:pPr>
            <a:r>
              <a:rPr lang="en-US" sz="1300" dirty="0">
                <a:solidFill>
                  <a:srgbClr val="DCE8E4"/>
                </a:solidFill>
                <a:latin typeface="IBM Plex Sans" pitchFamily="34" charset="0"/>
                <a:ea typeface="IBM Plex Sans" pitchFamily="34" charset="-122"/>
                <a:cs typeface="IBM Plex Sans" pitchFamily="34" charset="-120"/>
              </a:rPr>
              <a:t>Validación de datos con Pydantic</a:t>
            </a:r>
            <a:endParaRPr lang="en-US" sz="1300" dirty="0"/>
          </a:p>
          <a:p>
            <a:pPr algn="l" marL="168656" indent="-168656">
              <a:lnSpc>
                <a:spcPts val="1755"/>
              </a:lnSpc>
              <a:buSzPct val="100000"/>
              <a:buChar char="•"/>
            </a:pPr>
            <a:r>
              <a:rPr lang="en-US" sz="1300" dirty="0">
                <a:solidFill>
                  <a:srgbClr val="DCE8E4"/>
                </a:solidFill>
                <a:latin typeface="IBM Plex Sans" pitchFamily="34" charset="0"/>
                <a:ea typeface="IBM Plex Sans" pitchFamily="34" charset="-122"/>
                <a:cs typeface="IBM Plex Sans" pitchFamily="34" charset="-120"/>
              </a:rPr>
              <a:t>Motor de scoring (Scikit-Learn)</a:t>
            </a:r>
            <a:endParaRPr lang="en-US" sz="1300" dirty="0"/>
          </a:p>
        </p:txBody>
      </p:sp>
      <p:sp>
        <p:nvSpPr>
          <p:cNvPr id="15" name="Text 10"/>
          <p:cNvSpPr/>
          <p:nvPr/>
        </p:nvSpPr>
        <p:spPr>
          <a:xfrm>
            <a:off x="8314920" y="2185988"/>
            <a:ext cx="33728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6B4C"/>
                </a:solidFill>
                <a:latin typeface="IBM Plex Sans" pitchFamily="34" charset="0"/>
                <a:ea typeface="IBM Plex Sans" pitchFamily="34" charset="-122"/>
                <a:cs typeface="IBM Plex Sans" pitchFamily="34" charset="-120"/>
              </a:rPr>
              <a:t>SQL</a:t>
            </a:r>
            <a:endParaRPr lang="en-US" sz="1200" dirty="0"/>
          </a:p>
        </p:txBody>
      </p:sp>
      <p:pic>
        <p:nvPicPr>
          <p:cNvPr id="16" name="Image 3" descr="arrow-right">    </p:cNvPr>
          <p:cNvPicPr>
            <a:picLocks noChangeAspect="1"/>
          </p:cNvPicPr>
          <p:nvPr/>
        </p:nvPicPr>
        <p:blipFill>
          <a:blip r:embed="rId4"/>
          <a:srcRect l="0" r="0" t="0" b="0"/>
          <a:stretch/>
        </p:blipFill>
        <p:spPr>
          <a:xfrm>
            <a:off x="8166100" y="2462848"/>
            <a:ext cx="635000" cy="279400"/>
          </a:xfrm>
          <a:prstGeom prst="rect">
            <a:avLst/>
          </a:prstGeom>
        </p:spPr>
      </p:pic>
      <p:sp>
        <p:nvSpPr>
          <p:cNvPr id="17" name="Shape 11"/>
          <p:cNvSpPr/>
          <p:nvPr/>
        </p:nvSpPr>
        <p:spPr>
          <a:xfrm>
            <a:off x="8969375" y="1572896"/>
            <a:ext cx="2406650" cy="1782445"/>
          </a:xfrm>
          <a:prstGeom prst="roundRect">
            <a:avLst>
              <a:gd name="adj" fmla="val 6947"/>
            </a:avLst>
          </a:prstGeom>
          <a:solidFill>
            <a:srgbClr val="FAFBF7"/>
          </a:solidFill>
          <a:ln w="6350">
            <a:solidFill>
              <a:srgbClr val="D3DBD1"/>
            </a:solidFill>
            <a:prstDash val="solid"/>
          </a:ln>
        </p:spPr>
      </p:sp>
      <p:pic>
        <p:nvPicPr>
          <p:cNvPr id="18" name="Image 4" descr="Database">    </p:cNvPr>
          <p:cNvPicPr>
            <a:picLocks noChangeAspect="1"/>
          </p:cNvPicPr>
          <p:nvPr/>
        </p:nvPicPr>
        <p:blipFill>
          <a:blip r:embed="rId5"/>
          <a:srcRect l="0" r="0" t="0" b="0"/>
          <a:stretch/>
        </p:blipFill>
        <p:spPr>
          <a:xfrm>
            <a:off x="9174480" y="1780539"/>
            <a:ext cx="254000" cy="254000"/>
          </a:xfrm>
          <a:prstGeom prst="rect">
            <a:avLst/>
          </a:prstGeom>
        </p:spPr>
      </p:pic>
      <p:sp>
        <p:nvSpPr>
          <p:cNvPr id="19" name="Text 12"/>
          <p:cNvSpPr/>
          <p:nvPr/>
        </p:nvSpPr>
        <p:spPr>
          <a:xfrm>
            <a:off x="9517380" y="1778000"/>
            <a:ext cx="69332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E2B2A"/>
                </a:solidFill>
                <a:latin typeface="IBM Plex Sans" pitchFamily="34" charset="0"/>
                <a:ea typeface="IBM Plex Sans" pitchFamily="34" charset="-122"/>
                <a:cs typeface="IBM Plex Sans" pitchFamily="34" charset="-120"/>
              </a:rPr>
              <a:t>Datos</a:t>
            </a:r>
            <a:endParaRPr lang="en-US" sz="1700" dirty="0"/>
          </a:p>
        </p:txBody>
      </p:sp>
      <p:sp>
        <p:nvSpPr>
          <p:cNvPr id="20" name="Text 13"/>
          <p:cNvSpPr/>
          <p:nvPr/>
        </p:nvSpPr>
        <p:spPr>
          <a:xfrm>
            <a:off x="9174480" y="2125982"/>
            <a:ext cx="20563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6B4C"/>
                </a:solidFill>
                <a:latin typeface="IBM Plex Sans" pitchFamily="34" charset="0"/>
                <a:ea typeface="IBM Plex Sans" pitchFamily="34" charset="-122"/>
                <a:cs typeface="IBM Plex Sans" pitchFamily="34" charset="-120"/>
              </a:rPr>
              <a:t>SQL Server</a:t>
            </a:r>
            <a:endParaRPr lang="en-US" sz="1500" dirty="0"/>
          </a:p>
        </p:txBody>
      </p:sp>
      <p:sp>
        <p:nvSpPr>
          <p:cNvPr id="21" name="Text 14"/>
          <p:cNvSpPr/>
          <p:nvPr/>
        </p:nvSpPr>
        <p:spPr>
          <a:xfrm>
            <a:off x="9259824" y="2481582"/>
            <a:ext cx="1963369" cy="471170"/>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dirty="0">
                <a:solidFill>
                  <a:srgbClr val="2F4B49"/>
                </a:solidFill>
                <a:latin typeface="IBM Plex Sans" pitchFamily="34" charset="0"/>
                <a:ea typeface="IBM Plex Sans" pitchFamily="34" charset="-122"/>
                <a:cs typeface="IBM Plex Sans" pitchFamily="34" charset="-120"/>
              </a:rPr>
              <a:t>Tabla Usuario</a:t>
            </a:r>
            <a:endParaRPr lang="en-US" sz="1300" dirty="0"/>
          </a:p>
          <a:p>
            <a:pPr algn="l" marL="168656" indent="-168656">
              <a:lnSpc>
                <a:spcPts val="1755"/>
              </a:lnSpc>
              <a:buSzPct val="100000"/>
              <a:buChar char="•"/>
            </a:pPr>
            <a:r>
              <a:rPr lang="en-US" sz="1300" dirty="0">
                <a:solidFill>
                  <a:srgbClr val="2F4B49"/>
                </a:solidFill>
                <a:latin typeface="IBM Plex Sans" pitchFamily="34" charset="0"/>
                <a:ea typeface="IBM Plex Sans" pitchFamily="34" charset="-122"/>
                <a:cs typeface="IBM Plex Sans" pitchFamily="34" charset="-120"/>
              </a:rPr>
              <a:t>Tabla Simulacion</a:t>
            </a:r>
            <a:endParaRPr lang="en-US" sz="1300" dirty="0"/>
          </a:p>
        </p:txBody>
      </p:sp>
      <p:sp>
        <p:nvSpPr>
          <p:cNvPr id="22" name="Shape 15"/>
          <p:cNvSpPr/>
          <p:nvPr/>
        </p:nvSpPr>
        <p:spPr>
          <a:xfrm>
            <a:off x="812800" y="3612514"/>
            <a:ext cx="10566400" cy="635000"/>
          </a:xfrm>
          <a:prstGeom prst="roundRect">
            <a:avLst>
              <a:gd name="adj" fmla="val 20000"/>
            </a:avLst>
          </a:prstGeom>
          <a:solidFill>
            <a:srgbClr val="D3EBDD"/>
          </a:solidFill>
          <a:ln/>
        </p:spPr>
      </p:sp>
      <p:pic>
        <p:nvPicPr>
          <p:cNvPr id="23" name="Image 5" descr="Cloud">    </p:cNvPr>
          <p:cNvPicPr>
            <a:picLocks noChangeAspect="1"/>
          </p:cNvPicPr>
          <p:nvPr/>
        </p:nvPicPr>
        <p:blipFill>
          <a:blip r:embed="rId6"/>
          <a:srcRect l="0" r="0" t="0" b="0"/>
          <a:stretch/>
        </p:blipFill>
        <p:spPr>
          <a:xfrm>
            <a:off x="1041400" y="3790314"/>
            <a:ext cx="279400" cy="279400"/>
          </a:xfrm>
          <a:prstGeom prst="rect">
            <a:avLst/>
          </a:prstGeom>
        </p:spPr>
      </p:pic>
      <p:sp>
        <p:nvSpPr>
          <p:cNvPr id="24" name="Text 16"/>
          <p:cNvSpPr/>
          <p:nvPr/>
        </p:nvSpPr>
        <p:spPr>
          <a:xfrm>
            <a:off x="1473200" y="3814446"/>
            <a:ext cx="99060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E2B2A"/>
                </a:solidFill>
                <a:latin typeface="IBM Plex Sans" pitchFamily="34" charset="0"/>
                <a:ea typeface="IBM Plex Sans" pitchFamily="34" charset="-122"/>
                <a:cs typeface="IBM Plex Sans" pitchFamily="34" charset="-120"/>
              </a:rPr>
              <a:t>Docker Compose:</a:t>
            </a:r>
            <a:r>
              <a:rPr lang="en-US" sz="1400" dirty="0">
                <a:solidFill>
                  <a:srgbClr val="0E2B2A"/>
                </a:solidFill>
                <a:latin typeface="IBM Plex Sans" pitchFamily="34" charset="0"/>
                <a:ea typeface="IBM Plex Sans" pitchFamily="34" charset="-122"/>
                <a:cs typeface="IBM Plex Sans" pitchFamily="34" charset="-120"/>
              </a:rPr>
              <a:t> tres contenedores (frontend, API y base de datos). Hoy el prototipo usa HTML y JavaScript.</a:t>
            </a:r>
            <a:endParaRPr lang="en-US" sz="1400" dirty="0"/>
          </a:p>
        </p:txBody>
      </p:sp>
      <p:sp>
        <p:nvSpPr>
          <p:cNvPr id="25" name="Text 17"/>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26"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B2A"/>
                </a:solidFill>
                <a:latin typeface="EB Garamond" pitchFamily="18" charset="0"/>
                <a:ea typeface="EB Garamond" pitchFamily="18" charset="-122"/>
                <a:cs typeface="EB Garamond" pitchFamily="18" charset="-120"/>
              </a:rPr>
              <a:t>Modelo de datos en SQL Server</a:t>
            </a:r>
            <a:endParaRPr lang="en-US" sz="3600" dirty="0"/>
          </a:p>
        </p:txBody>
      </p:sp>
      <p:sp>
        <p:nvSpPr>
          <p:cNvPr id="3" name="Shape 1"/>
          <p:cNvSpPr/>
          <p:nvPr/>
        </p:nvSpPr>
        <p:spPr>
          <a:xfrm>
            <a:off x="815975" y="1522096"/>
            <a:ext cx="4565650" cy="1588770"/>
          </a:xfrm>
          <a:prstGeom prst="roundRect">
            <a:avLst>
              <a:gd name="adj" fmla="val 7794"/>
            </a:avLst>
          </a:prstGeom>
          <a:solidFill>
            <a:srgbClr val="FAFBF7"/>
          </a:solidFill>
          <a:ln w="6350">
            <a:solidFill>
              <a:srgbClr val="D3DBD1"/>
            </a:solidFill>
            <a:prstDash val="solid"/>
          </a:ln>
        </p:spPr>
      </p:sp>
      <p:sp>
        <p:nvSpPr>
          <p:cNvPr id="4" name="Text 2"/>
          <p:cNvSpPr/>
          <p:nvPr/>
        </p:nvSpPr>
        <p:spPr>
          <a:xfrm>
            <a:off x="995680" y="1701800"/>
            <a:ext cx="43324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B2A"/>
                </a:solidFill>
                <a:latin typeface="IBM Plex Sans" pitchFamily="34" charset="0"/>
                <a:ea typeface="IBM Plex Sans" pitchFamily="34" charset="-122"/>
                <a:cs typeface="IBM Plex Sans" pitchFamily="34" charset="-120"/>
              </a:rPr>
              <a:t>Usuario</a:t>
            </a:r>
            <a:endParaRPr lang="en-US" sz="1800" dirty="0"/>
          </a:p>
        </p:txBody>
      </p:sp>
      <p:sp>
        <p:nvSpPr>
          <p:cNvPr id="5" name="Text 3"/>
          <p:cNvSpPr/>
          <p:nvPr/>
        </p:nvSpPr>
        <p:spPr>
          <a:xfrm>
            <a:off x="995680" y="2039621"/>
            <a:ext cx="4332427"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id_usuario (PK)</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email (único)</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password_hash</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fecha_registro</a:t>
            </a:r>
            <a:endParaRPr lang="en-US" sz="1300" dirty="0"/>
          </a:p>
        </p:txBody>
      </p:sp>
      <p:sp>
        <p:nvSpPr>
          <p:cNvPr id="6" name="Text 4"/>
          <p:cNvSpPr/>
          <p:nvPr/>
        </p:nvSpPr>
        <p:spPr>
          <a:xfrm>
            <a:off x="1956435" y="3190239"/>
            <a:ext cx="2284730" cy="307340"/>
          </a:xfrm>
          <a:custGeom>
            <a:avLst/>
            <a:gdLst/>
            <a:ahLst/>
            <a:cxnLst/>
            <a:rect l="l" t="t" r="r" b="b"/>
            <a:pathLst>
              <a:path w="2284730" h="307340">
                <a:moveTo>
                  <a:pt x="153670" y="0"/>
                </a:moveTo>
                <a:lnTo>
                  <a:pt x="2131060" y="0"/>
                </a:lnTo>
                <a:arcTo hR="153670" wR="153670" stAng="16200000" swAng="5400000"/>
                <a:lnTo>
                  <a:pt x="2284730" y="153670"/>
                </a:lnTo>
                <a:arcTo hR="153670" wR="153670" stAng="0" swAng="5400000"/>
                <a:lnTo>
                  <a:pt x="153670" y="307340"/>
                </a:lnTo>
                <a:arcTo hR="153670" wR="153670" stAng="5400000" swAng="5400000"/>
                <a:lnTo>
                  <a:pt x="0" y="153670"/>
                </a:lnTo>
                <a:arcTo hR="153670" wR="153670" stAng="10800000" swAng="5400000"/>
                <a:close/>
              </a:path>
            </a:pathLst>
          </a:custGeom>
          <a:solidFill>
            <a:srgbClr val="D3EBDD"/>
          </a:solidFill>
          <a:ln/>
        </p:spPr>
        <p:txBody>
          <a:bodyPr wrap="none" lIns="0" tIns="0" rIns="0" bIns="0" rtlCol="0" anchor="ctr">
            <a:normAutofit/>
          </a:bodyPr>
          <a:lstStyle/>
          <a:p>
            <a:pPr algn="ctr" indent="0" marL="0">
              <a:lnSpc>
                <a:spcPts val="1820"/>
              </a:lnSpc>
              <a:buNone/>
            </a:pPr>
            <a:r>
              <a:rPr lang="en-US" sz="1300" b="1" dirty="0">
                <a:solidFill>
                  <a:srgbClr val="0F5A3F"/>
                </a:solidFill>
                <a:latin typeface="IBM Plex Sans" pitchFamily="34" charset="0"/>
                <a:ea typeface="IBM Plex Sans" pitchFamily="34" charset="-122"/>
                <a:cs typeface="IBM Plex Sans" pitchFamily="34" charset="-120"/>
              </a:rPr>
              <a:t>1 usuario : N simulaciones</a:t>
            </a:r>
            <a:endParaRPr lang="en-US" sz="1300" dirty="0"/>
          </a:p>
        </p:txBody>
      </p:sp>
      <p:sp>
        <p:nvSpPr>
          <p:cNvPr id="7" name="Shape 5"/>
          <p:cNvSpPr/>
          <p:nvPr/>
        </p:nvSpPr>
        <p:spPr>
          <a:xfrm>
            <a:off x="815975" y="3576957"/>
            <a:ext cx="4565650" cy="1811655"/>
          </a:xfrm>
          <a:prstGeom prst="roundRect">
            <a:avLst>
              <a:gd name="adj" fmla="val 6835"/>
            </a:avLst>
          </a:prstGeom>
          <a:solidFill>
            <a:srgbClr val="FAFBF7"/>
          </a:solidFill>
          <a:ln w="6350">
            <a:solidFill>
              <a:srgbClr val="D3DBD1"/>
            </a:solidFill>
            <a:prstDash val="solid"/>
          </a:ln>
        </p:spPr>
      </p:sp>
      <p:sp>
        <p:nvSpPr>
          <p:cNvPr id="8" name="Text 6"/>
          <p:cNvSpPr/>
          <p:nvPr/>
        </p:nvSpPr>
        <p:spPr>
          <a:xfrm>
            <a:off x="995680" y="3756661"/>
            <a:ext cx="43324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B2A"/>
                </a:solidFill>
                <a:latin typeface="IBM Plex Sans" pitchFamily="34" charset="0"/>
                <a:ea typeface="IBM Plex Sans" pitchFamily="34" charset="-122"/>
                <a:cs typeface="IBM Plex Sans" pitchFamily="34" charset="-120"/>
              </a:rPr>
              <a:t>Simulacion</a:t>
            </a:r>
            <a:endParaRPr lang="en-US" sz="1800" dirty="0"/>
          </a:p>
        </p:txBody>
      </p:sp>
      <p:sp>
        <p:nvSpPr>
          <p:cNvPr id="9" name="Text 7"/>
          <p:cNvSpPr/>
          <p:nvPr/>
        </p:nvSpPr>
        <p:spPr>
          <a:xfrm>
            <a:off x="995680" y="4094482"/>
            <a:ext cx="4332427" cy="113982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id_simulacion (PK) · id_usuario (FK)</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edad · estado_civil</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ingresos · deuda · monto solicitado</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score · nivel de riesgo · probabilidad</a:t>
            </a:r>
            <a:endParaRPr lang="en-US" sz="1300" dirty="0"/>
          </a:p>
          <a:p>
            <a:pPr algn="l" indent="0" marL="0">
              <a:lnSpc>
                <a:spcPts val="1755"/>
              </a:lnSpc>
              <a:buNone/>
            </a:pPr>
            <a:r>
              <a:rPr lang="en-US" sz="1300" dirty="0">
                <a:solidFill>
                  <a:srgbClr val="2F4B49"/>
                </a:solidFill>
                <a:latin typeface="IBM Plex Sans" pitchFamily="34" charset="0"/>
                <a:ea typeface="IBM Plex Sans" pitchFamily="34" charset="-122"/>
                <a:cs typeface="IBM Plex Sans" pitchFamily="34" charset="-120"/>
              </a:rPr>
              <a:t>fecha_simulacion</a:t>
            </a:r>
            <a:endParaRPr lang="en-US" sz="1300" dirty="0"/>
          </a:p>
        </p:txBody>
      </p:sp>
      <p:sp>
        <p:nvSpPr>
          <p:cNvPr id="10" name="Shape 8"/>
          <p:cNvSpPr/>
          <p:nvPr/>
        </p:nvSpPr>
        <p:spPr>
          <a:xfrm>
            <a:off x="5791200" y="1518921"/>
            <a:ext cx="5588000" cy="1181100"/>
          </a:xfrm>
          <a:prstGeom prst="roundRect">
            <a:avLst>
              <a:gd name="adj" fmla="val 6452"/>
            </a:avLst>
          </a:prstGeom>
          <a:solidFill>
            <a:srgbClr val="FAFBF7"/>
          </a:solidFill>
          <a:ln/>
        </p:spPr>
      </p:sp>
      <p:pic>
        <p:nvPicPr>
          <p:cNvPr id="11" name="Image 0" descr="Resultados de SQL Server Management Studio: usuario de prueba, tres simulaciones con riesgo alto, medio y bajo, y resumen por usuario">    </p:cNvPr>
          <p:cNvPicPr>
            <a:picLocks noChangeAspect="1"/>
          </p:cNvPicPr>
          <p:nvPr/>
        </p:nvPicPr>
        <p:blipFill>
          <a:blip r:embed="rId1"/>
          <a:srcRect l="-437" r="-437" t="0" b="0"/>
          <a:stretch/>
        </p:blipFill>
        <p:spPr>
          <a:xfrm>
            <a:off x="5797550" y="1525271"/>
            <a:ext cx="5575300" cy="1168400"/>
          </a:xfrm>
          <a:prstGeom prst="roundRect">
            <a:avLst>
              <a:gd name="adj" fmla="val 5978"/>
            </a:avLst>
          </a:prstGeom>
        </p:spPr>
      </p:pic>
      <p:sp>
        <p:nvSpPr>
          <p:cNvPr id="12" name="Shape 9"/>
          <p:cNvSpPr/>
          <p:nvPr/>
        </p:nvSpPr>
        <p:spPr>
          <a:xfrm>
            <a:off x="5794375" y="1522096"/>
            <a:ext cx="5581650" cy="1174750"/>
          </a:xfrm>
          <a:prstGeom prst="roundRect">
            <a:avLst>
              <a:gd name="adj" fmla="val 6216"/>
            </a:avLst>
          </a:prstGeom>
          <a:noFill/>
          <a:ln w="6350">
            <a:solidFill>
              <a:srgbClr val="D3DBD1"/>
            </a:solidFill>
            <a:prstDash val="solid"/>
          </a:ln>
        </p:spPr>
      </p:sp>
      <p:sp>
        <p:nvSpPr>
          <p:cNvPr id="13" name="Text 10"/>
          <p:cNvSpPr/>
          <p:nvPr/>
        </p:nvSpPr>
        <p:spPr>
          <a:xfrm>
            <a:off x="5791200" y="2827021"/>
            <a:ext cx="6400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6260"/>
                </a:solidFill>
                <a:latin typeface="IBM Plex Sans" pitchFamily="34" charset="0"/>
                <a:ea typeface="IBM Plex Sans" pitchFamily="34" charset="-122"/>
                <a:cs typeface="IBM Plex Sans" pitchFamily="34" charset="-120"/>
              </a:rPr>
              <a:t>Consulta en SSMS: usuario de prueba, historial de tres simulaciones y resumen.</a:t>
            </a:r>
            <a:endParaRPr lang="en-US" sz="1200" dirty="0"/>
          </a:p>
        </p:txBody>
      </p:sp>
      <p:sp>
        <p:nvSpPr>
          <p:cNvPr id="14" name="Shape 11"/>
          <p:cNvSpPr/>
          <p:nvPr/>
        </p:nvSpPr>
        <p:spPr>
          <a:xfrm>
            <a:off x="5791200" y="3152139"/>
            <a:ext cx="5588000" cy="1520825"/>
          </a:xfrm>
          <a:prstGeom prst="roundRect">
            <a:avLst>
              <a:gd name="adj" fmla="val 8351"/>
            </a:avLst>
          </a:prstGeom>
          <a:solidFill>
            <a:srgbClr val="0E2B2A"/>
          </a:solidFill>
          <a:ln/>
        </p:spPr>
      </p:sp>
      <p:sp>
        <p:nvSpPr>
          <p:cNvPr id="15" name="Text 12"/>
          <p:cNvSpPr/>
          <p:nvPr/>
        </p:nvSpPr>
        <p:spPr>
          <a:xfrm>
            <a:off x="6079744" y="3355339"/>
            <a:ext cx="5244084" cy="1139825"/>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b="1" dirty="0">
                <a:solidFill>
                  <a:srgbClr val="DCE8E4"/>
                </a:solidFill>
                <a:latin typeface="IBM Plex Sans" pitchFamily="34" charset="0"/>
                <a:ea typeface="IBM Plex Sans" pitchFamily="34" charset="-122"/>
                <a:cs typeface="IBM Plex Sans" pitchFamily="34" charset="-120"/>
              </a:rPr>
              <a:t>Reglas:</a:t>
            </a:r>
            <a:r>
              <a:rPr lang="en-US" sz="1300" dirty="0">
                <a:solidFill>
                  <a:srgbClr val="DCE8E4"/>
                </a:solidFill>
                <a:latin typeface="IBM Plex Sans" pitchFamily="34" charset="0"/>
                <a:ea typeface="IBM Plex Sans" pitchFamily="34" charset="-122"/>
                <a:cs typeface="IBM Plex Sans" pitchFamily="34" charset="-120"/>
              </a:rPr>
              <a:t> correo único, valores no negativos, riesgo Bajo, Medio o Alto</a:t>
            </a:r>
            <a:endParaRPr lang="en-US" sz="1300" dirty="0"/>
          </a:p>
          <a:p>
            <a:pPr algn="l" marL="168656" indent="-168656">
              <a:lnSpc>
                <a:spcPts val="1755"/>
              </a:lnSpc>
              <a:buSzPct val="100000"/>
              <a:buChar char="•"/>
            </a:pPr>
            <a:r>
              <a:rPr lang="en-US" sz="1300" b="1" dirty="0">
                <a:solidFill>
                  <a:srgbClr val="DCE8E4"/>
                </a:solidFill>
                <a:latin typeface="IBM Plex Sans" pitchFamily="34" charset="0"/>
                <a:ea typeface="IBM Plex Sans" pitchFamily="34" charset="-122"/>
                <a:cs typeface="IBM Plex Sans" pitchFamily="34" charset="-120"/>
              </a:rPr>
              <a:t>Procedimientos:</a:t>
            </a:r>
            <a:r>
              <a:rPr lang="en-US" sz="1300" dirty="0">
                <a:solidFill>
                  <a:srgbClr val="DCE8E4"/>
                </a:solidFill>
                <a:latin typeface="IBM Plex Sans" pitchFamily="34" charset="0"/>
                <a:ea typeface="IBM Plex Sans" pitchFamily="34" charset="-122"/>
                <a:cs typeface="IBM Plex Sans" pitchFamily="34" charset="-120"/>
              </a:rPr>
              <a:t> registrar, iniciar sesión, guardar simulación e historial</a:t>
            </a:r>
            <a:endParaRPr lang="en-US" sz="1300" dirty="0"/>
          </a:p>
          <a:p>
            <a:pPr algn="l" marL="168656" indent="-168656">
              <a:lnSpc>
                <a:spcPts val="1755"/>
              </a:lnSpc>
              <a:buSzPct val="100000"/>
              <a:buChar char="•"/>
            </a:pPr>
            <a:r>
              <a:rPr lang="en-US" sz="1300" b="1" dirty="0">
                <a:solidFill>
                  <a:srgbClr val="DCE8E4"/>
                </a:solidFill>
                <a:latin typeface="IBM Plex Sans" pitchFamily="34" charset="0"/>
                <a:ea typeface="IBM Plex Sans" pitchFamily="34" charset="-122"/>
                <a:cs typeface="IBM Plex Sans" pitchFamily="34" charset="-120"/>
              </a:rPr>
              <a:t>Pendiente:</a:t>
            </a:r>
            <a:r>
              <a:rPr lang="en-US" sz="1300" dirty="0">
                <a:solidFill>
                  <a:srgbClr val="DCE8E4"/>
                </a:solidFill>
                <a:latin typeface="IBM Plex Sans" pitchFamily="34" charset="0"/>
                <a:ea typeface="IBM Plex Sans" pitchFamily="34" charset="-122"/>
                <a:cs typeface="IBM Plex Sans" pitchFamily="34" charset="-120"/>
              </a:rPr>
              <a:t> conectar la API con la base</a:t>
            </a:r>
            <a:endParaRPr lang="en-US" sz="1300" dirty="0"/>
          </a:p>
        </p:txBody>
      </p:sp>
      <p:sp>
        <p:nvSpPr>
          <p:cNvPr id="16" name="Text 13"/>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17" name="Text 1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B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A3"/>
                </a:solidFill>
                <a:latin typeface="IBM Plex Sans" pitchFamily="34" charset="0"/>
                <a:ea typeface="IBM Plex Sans" pitchFamily="34" charset="-122"/>
                <a:cs typeface="IBM Plex Sans" pitchFamily="34" charset="-120"/>
              </a:rPr>
              <a:t>DEMOSTRACIÓN EN VIVO</a:t>
            </a:r>
            <a:endParaRPr lang="en-US" sz="1400" dirty="0"/>
          </a:p>
        </p:txBody>
      </p:sp>
      <p:sp>
        <p:nvSpPr>
          <p:cNvPr id="3" name="Text 1"/>
          <p:cNvSpPr/>
          <p:nvPr>
            <p:ph type="title"/>
          </p:nvPr>
        </p:nvSpPr>
        <p:spPr>
          <a:xfrm>
            <a:off x="812800" y="1163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EA"/>
                </a:solidFill>
                <a:latin typeface="EB Garamond" pitchFamily="18" charset="0"/>
                <a:ea typeface="EB Garamond" pitchFamily="18" charset="-122"/>
                <a:cs typeface="EB Garamond" pitchFamily="18" charset="-120"/>
              </a:rPr>
              <a:t>Recorrido del prototipo</a:t>
            </a:r>
            <a:endParaRPr lang="en-US" sz="3600" dirty="0"/>
          </a:p>
        </p:txBody>
      </p:sp>
      <p:sp>
        <p:nvSpPr>
          <p:cNvPr id="4" name="Shape 2"/>
          <p:cNvSpPr/>
          <p:nvPr/>
        </p:nvSpPr>
        <p:spPr>
          <a:xfrm>
            <a:off x="812800" y="2760982"/>
            <a:ext cx="2298700" cy="1755140"/>
          </a:xfrm>
          <a:prstGeom prst="roundRect">
            <a:avLst>
              <a:gd name="adj" fmla="val 7236"/>
            </a:avLst>
          </a:prstGeom>
          <a:solidFill>
            <a:srgbClr val="163D3A"/>
          </a:solidFill>
          <a:ln/>
        </p:spPr>
      </p:sp>
      <p:sp>
        <p:nvSpPr>
          <p:cNvPr id="5" name="Text 3"/>
          <p:cNvSpPr/>
          <p:nvPr/>
        </p:nvSpPr>
        <p:spPr>
          <a:xfrm>
            <a:off x="1016000" y="2964182"/>
            <a:ext cx="1949069"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5FD3A3"/>
                </a:solidFill>
                <a:latin typeface="EB Garamond" pitchFamily="18" charset="0"/>
                <a:ea typeface="EB Garamond" pitchFamily="18" charset="-122"/>
                <a:cs typeface="EB Garamond" pitchFamily="18" charset="-120"/>
              </a:rPr>
              <a:t>1</a:t>
            </a:r>
            <a:endParaRPr lang="en-US" sz="4000" dirty="0"/>
          </a:p>
        </p:txBody>
      </p:sp>
      <p:sp>
        <p:nvSpPr>
          <p:cNvPr id="6" name="Text 4"/>
          <p:cNvSpPr/>
          <p:nvPr/>
        </p:nvSpPr>
        <p:spPr>
          <a:xfrm>
            <a:off x="1016000" y="3548382"/>
            <a:ext cx="19490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A"/>
                </a:solidFill>
                <a:latin typeface="IBM Plex Sans" pitchFamily="34" charset="0"/>
                <a:ea typeface="IBM Plex Sans" pitchFamily="34" charset="-122"/>
                <a:cs typeface="IBM Plex Sans" pitchFamily="34" charset="-120"/>
              </a:rPr>
              <a:t>Acceso</a:t>
            </a:r>
            <a:endParaRPr lang="en-US" sz="1700" dirty="0"/>
          </a:p>
        </p:txBody>
      </p:sp>
      <p:sp>
        <p:nvSpPr>
          <p:cNvPr id="7" name="Text 5"/>
          <p:cNvSpPr/>
          <p:nvPr/>
        </p:nvSpPr>
        <p:spPr>
          <a:xfrm>
            <a:off x="1016000" y="3883661"/>
            <a:ext cx="194906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9DAD6"/>
                </a:solidFill>
                <a:latin typeface="IBM Plex Sans" pitchFamily="34" charset="0"/>
                <a:ea typeface="IBM Plex Sans" pitchFamily="34" charset="-122"/>
                <a:cs typeface="IBM Plex Sans" pitchFamily="34" charset="-120"/>
              </a:rPr>
              <a:t>Inicio de sesión del usuario</a:t>
            </a:r>
            <a:endParaRPr lang="en-US" sz="1300" dirty="0"/>
          </a:p>
        </p:txBody>
      </p:sp>
      <p:pic>
        <p:nvPicPr>
          <p:cNvPr id="8" name="Image 0" descr="arrow-right">    </p:cNvPr>
          <p:cNvPicPr>
            <a:picLocks noChangeAspect="1"/>
          </p:cNvPicPr>
          <p:nvPr/>
        </p:nvPicPr>
        <p:blipFill>
          <a:blip r:embed="rId1"/>
          <a:srcRect l="0" r="0" t="0" b="0"/>
          <a:stretch/>
        </p:blipFill>
        <p:spPr>
          <a:xfrm>
            <a:off x="3213100" y="3536950"/>
            <a:ext cx="254000" cy="203200"/>
          </a:xfrm>
          <a:prstGeom prst="rect">
            <a:avLst/>
          </a:prstGeom>
        </p:spPr>
      </p:pic>
      <p:sp>
        <p:nvSpPr>
          <p:cNvPr id="9" name="Shape 6"/>
          <p:cNvSpPr/>
          <p:nvPr/>
        </p:nvSpPr>
        <p:spPr>
          <a:xfrm>
            <a:off x="3568700" y="2760982"/>
            <a:ext cx="2298700" cy="1755140"/>
          </a:xfrm>
          <a:prstGeom prst="roundRect">
            <a:avLst>
              <a:gd name="adj" fmla="val 7236"/>
            </a:avLst>
          </a:prstGeom>
          <a:solidFill>
            <a:srgbClr val="163D3A"/>
          </a:solidFill>
          <a:ln/>
        </p:spPr>
      </p:sp>
      <p:sp>
        <p:nvSpPr>
          <p:cNvPr id="10" name="Text 7"/>
          <p:cNvSpPr/>
          <p:nvPr/>
        </p:nvSpPr>
        <p:spPr>
          <a:xfrm>
            <a:off x="3771900" y="2964182"/>
            <a:ext cx="1949069"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5FD3A3"/>
                </a:solidFill>
                <a:latin typeface="EB Garamond" pitchFamily="18" charset="0"/>
                <a:ea typeface="EB Garamond" pitchFamily="18" charset="-122"/>
                <a:cs typeface="EB Garamond" pitchFamily="18" charset="-120"/>
              </a:rPr>
              <a:t>2</a:t>
            </a:r>
            <a:endParaRPr lang="en-US" sz="4000" dirty="0"/>
          </a:p>
        </p:txBody>
      </p:sp>
      <p:sp>
        <p:nvSpPr>
          <p:cNvPr id="11" name="Text 8"/>
          <p:cNvSpPr/>
          <p:nvPr/>
        </p:nvSpPr>
        <p:spPr>
          <a:xfrm>
            <a:off x="3771900" y="3548382"/>
            <a:ext cx="19490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A"/>
                </a:solidFill>
                <a:latin typeface="IBM Plex Sans" pitchFamily="34" charset="0"/>
                <a:ea typeface="IBM Plex Sans" pitchFamily="34" charset="-122"/>
                <a:cs typeface="IBM Plex Sans" pitchFamily="34" charset="-120"/>
              </a:rPr>
              <a:t>Simulación</a:t>
            </a:r>
            <a:endParaRPr lang="en-US" sz="1700" dirty="0"/>
          </a:p>
        </p:txBody>
      </p:sp>
      <p:sp>
        <p:nvSpPr>
          <p:cNvPr id="12" name="Text 9"/>
          <p:cNvSpPr/>
          <p:nvPr/>
        </p:nvSpPr>
        <p:spPr>
          <a:xfrm>
            <a:off x="3771900" y="3883661"/>
            <a:ext cx="194906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9DAD6"/>
                </a:solidFill>
                <a:latin typeface="IBM Plex Sans" pitchFamily="34" charset="0"/>
                <a:ea typeface="IBM Plex Sans" pitchFamily="34" charset="-122"/>
                <a:cs typeface="IBM Plex Sans" pitchFamily="34" charset="-120"/>
              </a:rPr>
              <a:t>Datos demográficos y financieros</a:t>
            </a:r>
            <a:endParaRPr lang="en-US" sz="1300" dirty="0"/>
          </a:p>
        </p:txBody>
      </p:sp>
      <p:pic>
        <p:nvPicPr>
          <p:cNvPr id="13" name="Image 1" descr="arrow-right">    </p:cNvPr>
          <p:cNvPicPr>
            <a:picLocks noChangeAspect="1"/>
          </p:cNvPicPr>
          <p:nvPr/>
        </p:nvPicPr>
        <p:blipFill>
          <a:blip r:embed="rId2"/>
          <a:srcRect l="0" r="0" t="0" b="0"/>
          <a:stretch/>
        </p:blipFill>
        <p:spPr>
          <a:xfrm>
            <a:off x="5969000" y="3536950"/>
            <a:ext cx="254000" cy="203200"/>
          </a:xfrm>
          <a:prstGeom prst="rect">
            <a:avLst/>
          </a:prstGeom>
        </p:spPr>
      </p:pic>
      <p:sp>
        <p:nvSpPr>
          <p:cNvPr id="14" name="Shape 10"/>
          <p:cNvSpPr/>
          <p:nvPr/>
        </p:nvSpPr>
        <p:spPr>
          <a:xfrm>
            <a:off x="6324600" y="2760982"/>
            <a:ext cx="2298700" cy="1755140"/>
          </a:xfrm>
          <a:prstGeom prst="roundRect">
            <a:avLst>
              <a:gd name="adj" fmla="val 7236"/>
            </a:avLst>
          </a:prstGeom>
          <a:solidFill>
            <a:srgbClr val="163D3A"/>
          </a:solidFill>
          <a:ln/>
        </p:spPr>
      </p:sp>
      <p:sp>
        <p:nvSpPr>
          <p:cNvPr id="15" name="Text 11"/>
          <p:cNvSpPr/>
          <p:nvPr/>
        </p:nvSpPr>
        <p:spPr>
          <a:xfrm>
            <a:off x="6527800" y="2964182"/>
            <a:ext cx="1949069"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5FD3A3"/>
                </a:solidFill>
                <a:latin typeface="EB Garamond" pitchFamily="18" charset="0"/>
                <a:ea typeface="EB Garamond" pitchFamily="18" charset="-122"/>
                <a:cs typeface="EB Garamond" pitchFamily="18" charset="-120"/>
              </a:rPr>
              <a:t>3</a:t>
            </a:r>
            <a:endParaRPr lang="en-US" sz="4000" dirty="0"/>
          </a:p>
        </p:txBody>
      </p:sp>
      <p:sp>
        <p:nvSpPr>
          <p:cNvPr id="16" name="Text 12"/>
          <p:cNvSpPr/>
          <p:nvPr/>
        </p:nvSpPr>
        <p:spPr>
          <a:xfrm>
            <a:off x="6527800" y="3548382"/>
            <a:ext cx="19490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A"/>
                </a:solidFill>
                <a:latin typeface="IBM Plex Sans" pitchFamily="34" charset="0"/>
                <a:ea typeface="IBM Plex Sans" pitchFamily="34" charset="-122"/>
                <a:cs typeface="IBM Plex Sans" pitchFamily="34" charset="-120"/>
              </a:rPr>
              <a:t>Resultado</a:t>
            </a:r>
            <a:endParaRPr lang="en-US" sz="1700" dirty="0"/>
          </a:p>
        </p:txBody>
      </p:sp>
      <p:sp>
        <p:nvSpPr>
          <p:cNvPr id="17" name="Text 13"/>
          <p:cNvSpPr/>
          <p:nvPr/>
        </p:nvSpPr>
        <p:spPr>
          <a:xfrm>
            <a:off x="6527800" y="3883661"/>
            <a:ext cx="194906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9DAD6"/>
                </a:solidFill>
                <a:latin typeface="IBM Plex Sans" pitchFamily="34" charset="0"/>
                <a:ea typeface="IBM Plex Sans" pitchFamily="34" charset="-122"/>
                <a:cs typeface="IBM Plex Sans" pitchFamily="34" charset="-120"/>
              </a:rPr>
              <a:t>Score, nivel de riesgo y tip financiero</a:t>
            </a:r>
            <a:endParaRPr lang="en-US" sz="1300" dirty="0"/>
          </a:p>
        </p:txBody>
      </p:sp>
      <p:pic>
        <p:nvPicPr>
          <p:cNvPr id="18" name="Image 2" descr="arrow-right">    </p:cNvPr>
          <p:cNvPicPr>
            <a:picLocks noChangeAspect="1"/>
          </p:cNvPicPr>
          <p:nvPr/>
        </p:nvPicPr>
        <p:blipFill>
          <a:blip r:embed="rId3"/>
          <a:srcRect l="0" r="0" t="0" b="0"/>
          <a:stretch/>
        </p:blipFill>
        <p:spPr>
          <a:xfrm>
            <a:off x="8724900" y="3536950"/>
            <a:ext cx="254000" cy="203200"/>
          </a:xfrm>
          <a:prstGeom prst="rect">
            <a:avLst/>
          </a:prstGeom>
        </p:spPr>
      </p:pic>
      <p:sp>
        <p:nvSpPr>
          <p:cNvPr id="19" name="Shape 14"/>
          <p:cNvSpPr/>
          <p:nvPr/>
        </p:nvSpPr>
        <p:spPr>
          <a:xfrm>
            <a:off x="9080500" y="2760982"/>
            <a:ext cx="2298700" cy="1755140"/>
          </a:xfrm>
          <a:prstGeom prst="roundRect">
            <a:avLst>
              <a:gd name="adj" fmla="val 7236"/>
            </a:avLst>
          </a:prstGeom>
          <a:solidFill>
            <a:srgbClr val="163D3A"/>
          </a:solidFill>
          <a:ln/>
        </p:spPr>
      </p:sp>
      <p:sp>
        <p:nvSpPr>
          <p:cNvPr id="20" name="Text 15"/>
          <p:cNvSpPr/>
          <p:nvPr/>
        </p:nvSpPr>
        <p:spPr>
          <a:xfrm>
            <a:off x="9283700" y="2964182"/>
            <a:ext cx="1949069"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5FD3A3"/>
                </a:solidFill>
                <a:latin typeface="EB Garamond" pitchFamily="18" charset="0"/>
                <a:ea typeface="EB Garamond" pitchFamily="18" charset="-122"/>
                <a:cs typeface="EB Garamond" pitchFamily="18" charset="-120"/>
              </a:rPr>
              <a:t>4</a:t>
            </a:r>
            <a:endParaRPr lang="en-US" sz="4000" dirty="0"/>
          </a:p>
        </p:txBody>
      </p:sp>
      <p:sp>
        <p:nvSpPr>
          <p:cNvPr id="21" name="Text 16"/>
          <p:cNvSpPr/>
          <p:nvPr/>
        </p:nvSpPr>
        <p:spPr>
          <a:xfrm>
            <a:off x="9283700" y="3548382"/>
            <a:ext cx="19490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A"/>
                </a:solidFill>
                <a:latin typeface="IBM Plex Sans" pitchFamily="34" charset="0"/>
                <a:ea typeface="IBM Plex Sans" pitchFamily="34" charset="-122"/>
                <a:cs typeface="IBM Plex Sans" pitchFamily="34" charset="-120"/>
              </a:rPr>
              <a:t>Educación</a:t>
            </a:r>
            <a:endParaRPr lang="en-US" sz="1700" dirty="0"/>
          </a:p>
        </p:txBody>
      </p:sp>
      <p:sp>
        <p:nvSpPr>
          <p:cNvPr id="22" name="Text 17"/>
          <p:cNvSpPr/>
          <p:nvPr/>
        </p:nvSpPr>
        <p:spPr>
          <a:xfrm>
            <a:off x="9283700" y="3883661"/>
            <a:ext cx="1949069"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C9DAD6"/>
                </a:solidFill>
                <a:latin typeface="IBM Plex Sans" pitchFamily="34" charset="0"/>
                <a:ea typeface="IBM Plex Sans" pitchFamily="34" charset="-122"/>
                <a:cs typeface="IBM Plex Sans" pitchFamily="34" charset="-120"/>
              </a:rPr>
              <a:t>Módulos de educación financiera</a:t>
            </a:r>
            <a:endParaRPr lang="en-US" sz="1300" dirty="0"/>
          </a:p>
        </p:txBody>
      </p:sp>
      <p:sp>
        <p:nvSpPr>
          <p:cNvPr id="23" name="Text 18"/>
          <p:cNvSpPr/>
          <p:nvPr/>
        </p:nvSpPr>
        <p:spPr>
          <a:xfrm>
            <a:off x="812800" y="5610861"/>
            <a:ext cx="10883392"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C2BE"/>
                </a:solidFill>
                <a:latin typeface="IBM Plex Sans" pitchFamily="34" charset="0"/>
                <a:ea typeface="IBM Plex Sans" pitchFamily="34" charset="-122"/>
                <a:cs typeface="IBM Plex Sans" pitchFamily="34" charset="-120"/>
              </a:rPr>
              <a:t>Prototipo actual: HTML, JavaScript y FastAPI. La versión final se construirá en React.</a:t>
            </a:r>
            <a:endParaRPr lang="en-US" sz="1400" dirty="0"/>
          </a:p>
        </p:txBody>
      </p:sp>
      <p:sp>
        <p:nvSpPr>
          <p:cNvPr id="24" name="Text 19"/>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E"/>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25" name="Text 2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BE"/>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B2A"/>
                </a:solidFill>
                <a:latin typeface="EB Garamond" pitchFamily="18" charset="0"/>
                <a:ea typeface="EB Garamond" pitchFamily="18" charset="-122"/>
                <a:cs typeface="EB Garamond" pitchFamily="18" charset="-120"/>
              </a:rPr>
              <a:t>Próximos pasos</a:t>
            </a:r>
            <a:endParaRPr lang="en-US" sz="3600" dirty="0"/>
          </a:p>
        </p:txBody>
      </p:sp>
      <p:sp>
        <p:nvSpPr>
          <p:cNvPr id="3" name="Shape 1"/>
          <p:cNvSpPr/>
          <p:nvPr/>
        </p:nvSpPr>
        <p:spPr>
          <a:xfrm>
            <a:off x="815975" y="1572896"/>
            <a:ext cx="6851650" cy="638810"/>
          </a:xfrm>
          <a:prstGeom prst="roundRect">
            <a:avLst>
              <a:gd name="adj" fmla="val 19384"/>
            </a:avLst>
          </a:prstGeom>
          <a:solidFill>
            <a:srgbClr val="FAFBF7"/>
          </a:solidFill>
          <a:ln w="6350">
            <a:solidFill>
              <a:srgbClr val="D3DBD1"/>
            </a:solidFill>
            <a:prstDash val="solid"/>
          </a:ln>
        </p:spPr>
      </p:sp>
      <p:sp>
        <p:nvSpPr>
          <p:cNvPr id="4" name="Text 2"/>
          <p:cNvSpPr/>
          <p:nvPr/>
        </p:nvSpPr>
        <p:spPr>
          <a:xfrm>
            <a:off x="995680" y="1714500"/>
            <a:ext cx="3556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46B4C"/>
                </a:solidFill>
                <a:latin typeface="EB Garamond" pitchFamily="18" charset="0"/>
                <a:ea typeface="EB Garamond" pitchFamily="18" charset="-122"/>
                <a:cs typeface="EB Garamond" pitchFamily="18" charset="-120"/>
              </a:rPr>
              <a:t>1</a:t>
            </a:r>
            <a:endParaRPr lang="en-US" sz="2800" dirty="0"/>
          </a:p>
        </p:txBody>
      </p:sp>
      <p:sp>
        <p:nvSpPr>
          <p:cNvPr id="5" name="Text 3"/>
          <p:cNvSpPr/>
          <p:nvPr/>
        </p:nvSpPr>
        <p:spPr>
          <a:xfrm>
            <a:off x="1452880" y="1776732"/>
            <a:ext cx="475821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302E"/>
                </a:solidFill>
                <a:latin typeface="IBM Plex Sans" pitchFamily="34" charset="0"/>
                <a:ea typeface="IBM Plex Sans" pitchFamily="34" charset="-122"/>
                <a:cs typeface="IBM Plex Sans" pitchFamily="34" charset="-120"/>
              </a:rPr>
              <a:t>Entrenar y validar el modelo de ML con CRISP-DM</a:t>
            </a:r>
            <a:endParaRPr lang="en-US" sz="1400" dirty="0"/>
          </a:p>
        </p:txBody>
      </p:sp>
      <p:sp>
        <p:nvSpPr>
          <p:cNvPr id="6" name="Shape 4"/>
          <p:cNvSpPr/>
          <p:nvPr/>
        </p:nvSpPr>
        <p:spPr>
          <a:xfrm>
            <a:off x="815975" y="2345057"/>
            <a:ext cx="6851650" cy="638810"/>
          </a:xfrm>
          <a:prstGeom prst="roundRect">
            <a:avLst>
              <a:gd name="adj" fmla="val 19384"/>
            </a:avLst>
          </a:prstGeom>
          <a:solidFill>
            <a:srgbClr val="FAFBF7"/>
          </a:solidFill>
          <a:ln w="6350">
            <a:solidFill>
              <a:srgbClr val="D3DBD1"/>
            </a:solidFill>
            <a:prstDash val="solid"/>
          </a:ln>
        </p:spPr>
      </p:sp>
      <p:sp>
        <p:nvSpPr>
          <p:cNvPr id="7" name="Text 5"/>
          <p:cNvSpPr/>
          <p:nvPr/>
        </p:nvSpPr>
        <p:spPr>
          <a:xfrm>
            <a:off x="995680" y="2486661"/>
            <a:ext cx="3556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46B4C"/>
                </a:solidFill>
                <a:latin typeface="EB Garamond" pitchFamily="18" charset="0"/>
                <a:ea typeface="EB Garamond" pitchFamily="18" charset="-122"/>
                <a:cs typeface="EB Garamond" pitchFamily="18" charset="-120"/>
              </a:rPr>
              <a:t>2</a:t>
            </a:r>
            <a:endParaRPr lang="en-US" sz="2800" dirty="0"/>
          </a:p>
        </p:txBody>
      </p:sp>
      <p:sp>
        <p:nvSpPr>
          <p:cNvPr id="8" name="Text 6"/>
          <p:cNvSpPr/>
          <p:nvPr/>
        </p:nvSpPr>
        <p:spPr>
          <a:xfrm>
            <a:off x="1452880" y="2548889"/>
            <a:ext cx="5356003"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302E"/>
                </a:solidFill>
                <a:latin typeface="IBM Plex Sans" pitchFamily="34" charset="0"/>
                <a:ea typeface="IBM Plex Sans" pitchFamily="34" charset="-122"/>
                <a:cs typeface="IBM Plex Sans" pitchFamily="34" charset="-120"/>
              </a:rPr>
              <a:t>Conectar la API con SQL Server: registro, JWT e historial</a:t>
            </a:r>
            <a:endParaRPr lang="en-US" sz="1400" dirty="0"/>
          </a:p>
        </p:txBody>
      </p:sp>
      <p:sp>
        <p:nvSpPr>
          <p:cNvPr id="9" name="Shape 7"/>
          <p:cNvSpPr/>
          <p:nvPr/>
        </p:nvSpPr>
        <p:spPr>
          <a:xfrm>
            <a:off x="815975" y="3117214"/>
            <a:ext cx="6851650" cy="638810"/>
          </a:xfrm>
          <a:prstGeom prst="roundRect">
            <a:avLst>
              <a:gd name="adj" fmla="val 19384"/>
            </a:avLst>
          </a:prstGeom>
          <a:solidFill>
            <a:srgbClr val="FAFBF7"/>
          </a:solidFill>
          <a:ln w="6350">
            <a:solidFill>
              <a:srgbClr val="D3DBD1"/>
            </a:solidFill>
            <a:prstDash val="solid"/>
          </a:ln>
        </p:spPr>
      </p:sp>
      <p:sp>
        <p:nvSpPr>
          <p:cNvPr id="10" name="Text 8"/>
          <p:cNvSpPr/>
          <p:nvPr/>
        </p:nvSpPr>
        <p:spPr>
          <a:xfrm>
            <a:off x="995680" y="3258821"/>
            <a:ext cx="3556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46B4C"/>
                </a:solidFill>
                <a:latin typeface="EB Garamond" pitchFamily="18" charset="0"/>
                <a:ea typeface="EB Garamond" pitchFamily="18" charset="-122"/>
                <a:cs typeface="EB Garamond" pitchFamily="18" charset="-120"/>
              </a:rPr>
              <a:t>3</a:t>
            </a:r>
            <a:endParaRPr lang="en-US" sz="2800" dirty="0"/>
          </a:p>
        </p:txBody>
      </p:sp>
      <p:sp>
        <p:nvSpPr>
          <p:cNvPr id="11" name="Text 9"/>
          <p:cNvSpPr/>
          <p:nvPr/>
        </p:nvSpPr>
        <p:spPr>
          <a:xfrm>
            <a:off x="1452880" y="3321050"/>
            <a:ext cx="246926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302E"/>
                </a:solidFill>
                <a:latin typeface="IBM Plex Sans" pitchFamily="34" charset="0"/>
                <a:ea typeface="IBM Plex Sans" pitchFamily="34" charset="-122"/>
                <a:cs typeface="IBM Plex Sans" pitchFamily="34" charset="-120"/>
              </a:rPr>
              <a:t>Migrar el frontend a React</a:t>
            </a:r>
            <a:endParaRPr lang="en-US" sz="1400" dirty="0"/>
          </a:p>
        </p:txBody>
      </p:sp>
      <p:sp>
        <p:nvSpPr>
          <p:cNvPr id="12" name="Shape 10"/>
          <p:cNvSpPr/>
          <p:nvPr/>
        </p:nvSpPr>
        <p:spPr>
          <a:xfrm>
            <a:off x="815975" y="3889375"/>
            <a:ext cx="6851650" cy="638810"/>
          </a:xfrm>
          <a:prstGeom prst="roundRect">
            <a:avLst>
              <a:gd name="adj" fmla="val 19384"/>
            </a:avLst>
          </a:prstGeom>
          <a:solidFill>
            <a:srgbClr val="FAFBF7"/>
          </a:solidFill>
          <a:ln w="6350">
            <a:solidFill>
              <a:srgbClr val="D3DBD1"/>
            </a:solidFill>
            <a:prstDash val="solid"/>
          </a:ln>
        </p:spPr>
      </p:sp>
      <p:sp>
        <p:nvSpPr>
          <p:cNvPr id="13" name="Text 11"/>
          <p:cNvSpPr/>
          <p:nvPr/>
        </p:nvSpPr>
        <p:spPr>
          <a:xfrm>
            <a:off x="995680" y="4030979"/>
            <a:ext cx="3556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46B4C"/>
                </a:solidFill>
                <a:latin typeface="EB Garamond" pitchFamily="18" charset="0"/>
                <a:ea typeface="EB Garamond" pitchFamily="18" charset="-122"/>
                <a:cs typeface="EB Garamond" pitchFamily="18" charset="-120"/>
              </a:rPr>
              <a:t>4</a:t>
            </a:r>
            <a:endParaRPr lang="en-US" sz="2800" dirty="0"/>
          </a:p>
        </p:txBody>
      </p:sp>
      <p:sp>
        <p:nvSpPr>
          <p:cNvPr id="14" name="Text 12"/>
          <p:cNvSpPr/>
          <p:nvPr/>
        </p:nvSpPr>
        <p:spPr>
          <a:xfrm>
            <a:off x="1452880" y="4093214"/>
            <a:ext cx="468372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302E"/>
                </a:solidFill>
                <a:latin typeface="IBM Plex Sans" pitchFamily="34" charset="0"/>
                <a:ea typeface="IBM Plex Sans" pitchFamily="34" charset="-122"/>
                <a:cs typeface="IBM Plex Sans" pitchFamily="34" charset="-120"/>
              </a:rPr>
              <a:t>Orquestar los tres servicios con Docker Compose</a:t>
            </a:r>
            <a:endParaRPr lang="en-US" sz="1400" dirty="0"/>
          </a:p>
        </p:txBody>
      </p:sp>
      <p:sp>
        <p:nvSpPr>
          <p:cNvPr id="15" name="Shape 13"/>
          <p:cNvSpPr/>
          <p:nvPr/>
        </p:nvSpPr>
        <p:spPr>
          <a:xfrm>
            <a:off x="815975" y="4661539"/>
            <a:ext cx="6851650" cy="638810"/>
          </a:xfrm>
          <a:prstGeom prst="roundRect">
            <a:avLst>
              <a:gd name="adj" fmla="val 19384"/>
            </a:avLst>
          </a:prstGeom>
          <a:solidFill>
            <a:srgbClr val="FAFBF7"/>
          </a:solidFill>
          <a:ln w="6350">
            <a:solidFill>
              <a:srgbClr val="D3DBD1"/>
            </a:solidFill>
            <a:prstDash val="solid"/>
          </a:ln>
        </p:spPr>
      </p:sp>
      <p:sp>
        <p:nvSpPr>
          <p:cNvPr id="16" name="Text 14"/>
          <p:cNvSpPr/>
          <p:nvPr/>
        </p:nvSpPr>
        <p:spPr>
          <a:xfrm>
            <a:off x="995680" y="4803142"/>
            <a:ext cx="3556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46B4C"/>
                </a:solidFill>
                <a:latin typeface="EB Garamond" pitchFamily="18" charset="0"/>
                <a:ea typeface="EB Garamond" pitchFamily="18" charset="-122"/>
                <a:cs typeface="EB Garamond" pitchFamily="18" charset="-120"/>
              </a:rPr>
              <a:t>5</a:t>
            </a:r>
            <a:endParaRPr lang="en-US" sz="2800" dirty="0"/>
          </a:p>
        </p:txBody>
      </p:sp>
      <p:sp>
        <p:nvSpPr>
          <p:cNvPr id="17" name="Text 15"/>
          <p:cNvSpPr/>
          <p:nvPr/>
        </p:nvSpPr>
        <p:spPr>
          <a:xfrm>
            <a:off x="1452880" y="4865371"/>
            <a:ext cx="5372005"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302E"/>
                </a:solidFill>
                <a:latin typeface="IBM Plex Sans" pitchFamily="34" charset="0"/>
                <a:ea typeface="IBM Plex Sans" pitchFamily="34" charset="-122"/>
                <a:cs typeface="IBM Plex Sans" pitchFamily="34" charset="-120"/>
              </a:rPr>
              <a:t>Ejecutar el plan de pruebas y documentar los resultados</a:t>
            </a:r>
            <a:endParaRPr lang="en-US" sz="1400" dirty="0"/>
          </a:p>
        </p:txBody>
      </p:sp>
      <p:sp>
        <p:nvSpPr>
          <p:cNvPr id="18" name="Shape 16"/>
          <p:cNvSpPr/>
          <p:nvPr/>
        </p:nvSpPr>
        <p:spPr>
          <a:xfrm>
            <a:off x="8077200" y="1569721"/>
            <a:ext cx="3302000" cy="3733800"/>
          </a:xfrm>
          <a:prstGeom prst="roundRect">
            <a:avLst>
              <a:gd name="adj" fmla="val 3846"/>
            </a:avLst>
          </a:prstGeom>
          <a:solidFill>
            <a:srgbClr val="0E2B2A"/>
          </a:solidFill>
          <a:ln/>
        </p:spPr>
      </p:sp>
      <p:pic>
        <p:nvPicPr>
          <p:cNvPr id="19" name="Image 0" descr="Chat">    </p:cNvPr>
          <p:cNvPicPr>
            <a:picLocks noChangeAspect="1"/>
          </p:cNvPicPr>
          <p:nvPr/>
        </p:nvPicPr>
        <p:blipFill>
          <a:blip r:embed="rId1"/>
          <a:srcRect l="0" r="0" t="0" b="0"/>
          <a:stretch/>
        </p:blipFill>
        <p:spPr>
          <a:xfrm>
            <a:off x="9499600" y="2622550"/>
            <a:ext cx="457200" cy="457200"/>
          </a:xfrm>
          <a:prstGeom prst="rect">
            <a:avLst/>
          </a:prstGeom>
        </p:spPr>
      </p:pic>
      <p:sp>
        <p:nvSpPr>
          <p:cNvPr id="20" name="Text 17"/>
          <p:cNvSpPr/>
          <p:nvPr/>
        </p:nvSpPr>
        <p:spPr>
          <a:xfrm>
            <a:off x="8635016" y="3206750"/>
            <a:ext cx="2186369" cy="635000"/>
          </a:xfrm>
          <a:prstGeom prst="rect">
            <a:avLst/>
          </a:prstGeom>
          <a:noFill/>
          <a:ln/>
        </p:spPr>
        <p:txBody>
          <a:bodyPr wrap="square" lIns="0" tIns="0" rIns="0" bIns="0" rtlCol="0" anchor="t">
            <a:normAutofit/>
          </a:bodyPr>
          <a:lstStyle/>
          <a:p>
            <a:pPr algn="ctr" indent="0" marL="0">
              <a:lnSpc>
                <a:spcPts val="4800"/>
              </a:lnSpc>
              <a:buNone/>
            </a:pPr>
            <a:r>
              <a:rPr lang="en-US" sz="4800" b="1" dirty="0">
                <a:solidFill>
                  <a:srgbClr val="EEF1EA"/>
                </a:solidFill>
                <a:latin typeface="EB Garamond" pitchFamily="18" charset="0"/>
                <a:ea typeface="EB Garamond" pitchFamily="18" charset="-122"/>
                <a:cs typeface="EB Garamond" pitchFamily="18" charset="-120"/>
              </a:rPr>
              <a:t>Gracias</a:t>
            </a:r>
            <a:endParaRPr lang="en-US" sz="4800" dirty="0"/>
          </a:p>
        </p:txBody>
      </p:sp>
      <p:sp>
        <p:nvSpPr>
          <p:cNvPr id="21" name="Text 18"/>
          <p:cNvSpPr/>
          <p:nvPr/>
        </p:nvSpPr>
        <p:spPr>
          <a:xfrm>
            <a:off x="8771795" y="3943350"/>
            <a:ext cx="1912811" cy="332740"/>
          </a:xfrm>
          <a:prstGeom prst="rect">
            <a:avLst/>
          </a:prstGeom>
          <a:noFill/>
          <a:ln/>
        </p:spPr>
        <p:txBody>
          <a:bodyPr wrap="square" lIns="0" tIns="0" rIns="0" bIns="0" rtlCol="0" anchor="t">
            <a:normAutofit/>
          </a:bodyPr>
          <a:lstStyle/>
          <a:p>
            <a:pPr algn="ctr" indent="0" marL="0">
              <a:lnSpc>
                <a:spcPts val="2420"/>
              </a:lnSpc>
              <a:buNone/>
            </a:pPr>
            <a:r>
              <a:rPr lang="en-US" sz="2200" b="1" dirty="0">
                <a:solidFill>
                  <a:srgbClr val="5FD3A3"/>
                </a:solidFill>
                <a:latin typeface="IBM Plex Sans" pitchFamily="34" charset="0"/>
                <a:ea typeface="IBM Plex Sans" pitchFamily="34" charset="-122"/>
                <a:cs typeface="IBM Plex Sans" pitchFamily="34" charset="-120"/>
              </a:rPr>
              <a:t>¿Preguntas?</a:t>
            </a:r>
            <a:endParaRPr lang="en-US" sz="2200" dirty="0"/>
          </a:p>
        </p:txBody>
      </p:sp>
      <p:sp>
        <p:nvSpPr>
          <p:cNvPr id="22" name="Text 19"/>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CrediCheck · Avance del proyecto</a:t>
            </a:r>
            <a:endParaRPr lang="en-US" sz="1200" dirty="0"/>
          </a:p>
        </p:txBody>
      </p:sp>
      <p:sp>
        <p:nvSpPr>
          <p:cNvPr id="23" name="Text 2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626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theme/theme1.xml><?xml version="1.0" encoding="utf-8"?>
<a:theme xmlns:a="http://schemas.openxmlformats.org/drawingml/2006/main" name="CrediCheck - Avance del proyecto">
  <a:themeElements>
    <a:clrScheme name="CrediCheck - Avance del proyecto">
      <a:dk1>
        <a:srgbClr val="0E2B2A"/>
      </a:dk1>
      <a:lt1>
        <a:srgbClr val="EEF1EA"/>
      </a:lt1>
      <a:dk2>
        <a:srgbClr val="465D5A"/>
      </a:dk2>
      <a:lt2>
        <a:srgbClr val="D8DDD7"/>
      </a:lt2>
      <a:accent1>
        <a:srgbClr val="5FD3A3"/>
      </a:accent1>
      <a:accent2>
        <a:srgbClr val="146B4C"/>
      </a:accent2>
      <a:accent3>
        <a:srgbClr val="0F5A3F"/>
      </a:accent3>
      <a:accent4>
        <a:srgbClr val="F6E7C1"/>
      </a:accent4>
      <a:accent5>
        <a:srgbClr val="7A4F00"/>
      </a:accent5>
      <a:accent6>
        <a:srgbClr val="4B6260"/>
      </a:accent6>
      <a:hlink>
        <a:srgbClr val="0563C1"/>
      </a:hlink>
      <a:folHlink>
        <a:srgbClr val="954F72"/>
      </a:folHlink>
    </a:clrScheme>
    <a:fontScheme name="CrediCheck - Avance del proyect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CrediCheck - Avance del proyecto</dc:title>
  <dc:subject/>
  <dc:creator/>
  <cp:lastModifiedBy/>
  <cp:revision>1</cp:revision>
  <dcterms:created xsi:type="dcterms:W3CDTF">2026-10-09T14:46:52Z</dcterms:created>
  <dcterms:modified xsi:type="dcterms:W3CDTF">2026-10-09T14:46:52Z</dcterms:modified>
</cp:coreProperties>
</file>